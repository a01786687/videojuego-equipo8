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Press Start 2P" charset="1" panose="00000500000000000000"/>
      <p:regular r:id="rId21"/>
    </p:embeddedFont>
    <p:embeddedFont>
      <p:font typeface="JetBrains Mono" charset="1" panose="02010509020102050004"/>
      <p:regular r:id="rId22"/>
    </p:embeddedFont>
    <p:embeddedFont>
      <p:font typeface="JetBrains Mono Bold" charset="1" panose="020108090301020500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23.png" Type="http://schemas.openxmlformats.org/officeDocument/2006/relationships/image"/><Relationship Id="rId12" Target="../media/image24.svg" Type="http://schemas.openxmlformats.org/officeDocument/2006/relationships/image"/><Relationship Id="rId13" Target="../media/image11.png" Type="http://schemas.openxmlformats.org/officeDocument/2006/relationships/image"/><Relationship Id="rId14" Target="../media/image12.svg" Type="http://schemas.openxmlformats.org/officeDocument/2006/relationships/image"/><Relationship Id="rId15" Target="../media/image25.png" Type="http://schemas.openxmlformats.org/officeDocument/2006/relationships/image"/><Relationship Id="rId16" Target="../media/image26.svg" Type="http://schemas.openxmlformats.org/officeDocument/2006/relationships/image"/><Relationship Id="rId17" Target="../media/image27.png" Type="http://schemas.openxmlformats.org/officeDocument/2006/relationships/image"/><Relationship Id="rId18" Target="../media/image28.sv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pn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29.png" Type="http://schemas.openxmlformats.org/officeDocument/2006/relationships/image"/><Relationship Id="rId9" Target="../media/image3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png" Type="http://schemas.openxmlformats.org/officeDocument/2006/relationships/image"/><Relationship Id="rId12" Target="../media/image39.pn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35.png" Type="http://schemas.openxmlformats.org/officeDocument/2006/relationships/image"/><Relationship Id="rId9" Target="../media/image3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pn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svg" Type="http://schemas.openxmlformats.org/officeDocument/2006/relationships/image"/><Relationship Id="rId12" Target="../media/image45.png" Type="http://schemas.openxmlformats.org/officeDocument/2006/relationships/image"/><Relationship Id="rId13" Target="../media/image46.sv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11" Target="../media/image4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49.png" Type="http://schemas.openxmlformats.org/officeDocument/2006/relationships/image"/><Relationship Id="rId15" Target="../media/image50.svg" Type="http://schemas.openxmlformats.org/officeDocument/2006/relationships/image"/><Relationship Id="rId16" Target="../media/image38.pn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4105611" y="3697743"/>
            <a:ext cx="826027" cy="843962"/>
          </a:xfrm>
          <a:custGeom>
            <a:avLst/>
            <a:gdLst/>
            <a:ahLst/>
            <a:cxnLst/>
            <a:rect r="r" b="b" t="t" l="l"/>
            <a:pathLst>
              <a:path h="843962" w="826027">
                <a:moveTo>
                  <a:pt x="0" y="0"/>
                </a:moveTo>
                <a:lnTo>
                  <a:pt x="826027" y="0"/>
                </a:lnTo>
                <a:lnTo>
                  <a:pt x="826027" y="843962"/>
                </a:lnTo>
                <a:lnTo>
                  <a:pt x="0" y="8439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89745" y="9680026"/>
            <a:ext cx="4428558" cy="830355"/>
          </a:xfrm>
          <a:custGeom>
            <a:avLst/>
            <a:gdLst/>
            <a:ahLst/>
            <a:cxnLst/>
            <a:rect r="r" b="b" t="t" l="l"/>
            <a:pathLst>
              <a:path h="830355" w="4428558">
                <a:moveTo>
                  <a:pt x="0" y="0"/>
                </a:moveTo>
                <a:lnTo>
                  <a:pt x="4428558" y="0"/>
                </a:lnTo>
                <a:lnTo>
                  <a:pt x="4428558" y="830354"/>
                </a:lnTo>
                <a:lnTo>
                  <a:pt x="0" y="8303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553017" y="3697743"/>
            <a:ext cx="826027" cy="843962"/>
          </a:xfrm>
          <a:custGeom>
            <a:avLst/>
            <a:gdLst/>
            <a:ahLst/>
            <a:cxnLst/>
            <a:rect r="r" b="b" t="t" l="l"/>
            <a:pathLst>
              <a:path h="843962" w="826027">
                <a:moveTo>
                  <a:pt x="0" y="0"/>
                </a:moveTo>
                <a:lnTo>
                  <a:pt x="826028" y="0"/>
                </a:lnTo>
                <a:lnTo>
                  <a:pt x="826028" y="843962"/>
                </a:lnTo>
                <a:lnTo>
                  <a:pt x="0" y="8439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1142406">
            <a:off x="1975929" y="5670150"/>
            <a:ext cx="847752" cy="1371147"/>
          </a:xfrm>
          <a:custGeom>
            <a:avLst/>
            <a:gdLst/>
            <a:ahLst/>
            <a:cxnLst/>
            <a:rect r="r" b="b" t="t" l="l"/>
            <a:pathLst>
              <a:path h="1371147" w="847752">
                <a:moveTo>
                  <a:pt x="847752" y="0"/>
                </a:moveTo>
                <a:lnTo>
                  <a:pt x="0" y="0"/>
                </a:lnTo>
                <a:lnTo>
                  <a:pt x="0" y="1371148"/>
                </a:lnTo>
                <a:lnTo>
                  <a:pt x="847752" y="1371148"/>
                </a:lnTo>
                <a:lnTo>
                  <a:pt x="84775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7167042" y="4812174"/>
            <a:ext cx="622193" cy="622193"/>
          </a:xfrm>
          <a:custGeom>
            <a:avLst/>
            <a:gdLst/>
            <a:ahLst/>
            <a:cxnLst/>
            <a:rect r="r" b="b" t="t" l="l"/>
            <a:pathLst>
              <a:path h="622193" w="622193">
                <a:moveTo>
                  <a:pt x="0" y="0"/>
                </a:moveTo>
                <a:lnTo>
                  <a:pt x="622193" y="0"/>
                </a:lnTo>
                <a:lnTo>
                  <a:pt x="622193" y="622193"/>
                </a:lnTo>
                <a:lnTo>
                  <a:pt x="0" y="62219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5494609" y="1028700"/>
            <a:ext cx="1764691" cy="1764691"/>
          </a:xfrm>
          <a:custGeom>
            <a:avLst/>
            <a:gdLst/>
            <a:ahLst/>
            <a:cxnLst/>
            <a:rect r="r" b="b" t="t" l="l"/>
            <a:pathLst>
              <a:path h="1764691" w="1764691">
                <a:moveTo>
                  <a:pt x="0" y="0"/>
                </a:moveTo>
                <a:lnTo>
                  <a:pt x="1764691" y="0"/>
                </a:lnTo>
                <a:lnTo>
                  <a:pt x="1764691" y="1764691"/>
                </a:lnTo>
                <a:lnTo>
                  <a:pt x="0" y="176469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6626326" y="472411"/>
            <a:ext cx="2616002" cy="1255681"/>
          </a:xfrm>
          <a:custGeom>
            <a:avLst/>
            <a:gdLst/>
            <a:ahLst/>
            <a:cxnLst/>
            <a:rect r="r" b="b" t="t" l="l"/>
            <a:pathLst>
              <a:path h="1255681" w="2616002">
                <a:moveTo>
                  <a:pt x="0" y="0"/>
                </a:moveTo>
                <a:lnTo>
                  <a:pt x="2616002" y="0"/>
                </a:lnTo>
                <a:lnTo>
                  <a:pt x="2616002" y="1255681"/>
                </a:lnTo>
                <a:lnTo>
                  <a:pt x="0" y="125568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true" flipV="false" rot="0">
            <a:off x="-130236" y="3985415"/>
            <a:ext cx="2317872" cy="1112579"/>
          </a:xfrm>
          <a:custGeom>
            <a:avLst/>
            <a:gdLst/>
            <a:ahLst/>
            <a:cxnLst/>
            <a:rect r="r" b="b" t="t" l="l"/>
            <a:pathLst>
              <a:path h="1112579" w="2317872">
                <a:moveTo>
                  <a:pt x="2317872" y="0"/>
                </a:moveTo>
                <a:lnTo>
                  <a:pt x="0" y="0"/>
                </a:lnTo>
                <a:lnTo>
                  <a:pt x="0" y="1112579"/>
                </a:lnTo>
                <a:lnTo>
                  <a:pt x="2317872" y="1112579"/>
                </a:lnTo>
                <a:lnTo>
                  <a:pt x="2317872"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4059083" y="1680812"/>
            <a:ext cx="2317872" cy="1112579"/>
          </a:xfrm>
          <a:custGeom>
            <a:avLst/>
            <a:gdLst/>
            <a:ahLst/>
            <a:cxnLst/>
            <a:rect r="r" b="b" t="t" l="l"/>
            <a:pathLst>
              <a:path h="1112579" w="2317872">
                <a:moveTo>
                  <a:pt x="0" y="0"/>
                </a:moveTo>
                <a:lnTo>
                  <a:pt x="2317872" y="0"/>
                </a:lnTo>
                <a:lnTo>
                  <a:pt x="2317872" y="1112579"/>
                </a:lnTo>
                <a:lnTo>
                  <a:pt x="0" y="1112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2427674" y="1864703"/>
            <a:ext cx="1857375" cy="1857375"/>
          </a:xfrm>
          <a:custGeom>
            <a:avLst/>
            <a:gdLst/>
            <a:ahLst/>
            <a:cxnLst/>
            <a:rect r="r" b="b" t="t" l="l"/>
            <a:pathLst>
              <a:path h="1857375" w="1857375">
                <a:moveTo>
                  <a:pt x="0" y="0"/>
                </a:moveTo>
                <a:lnTo>
                  <a:pt x="1857375" y="0"/>
                </a:lnTo>
                <a:lnTo>
                  <a:pt x="1857375" y="1857375"/>
                </a:lnTo>
                <a:lnTo>
                  <a:pt x="0" y="185737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2" id="12"/>
          <p:cNvSpPr txBox="true"/>
          <p:nvPr/>
        </p:nvSpPr>
        <p:spPr>
          <a:xfrm rot="0">
            <a:off x="3209083" y="2602891"/>
            <a:ext cx="11722556" cy="1667027"/>
          </a:xfrm>
          <a:prstGeom prst="rect">
            <a:avLst/>
          </a:prstGeom>
        </p:spPr>
        <p:txBody>
          <a:bodyPr anchor="t" rtlCol="false" tIns="0" lIns="0" bIns="0" rIns="0">
            <a:spAutoFit/>
          </a:bodyPr>
          <a:lstStyle/>
          <a:p>
            <a:pPr algn="ctr">
              <a:lnSpc>
                <a:spcPts val="13641"/>
              </a:lnSpc>
              <a:spcBef>
                <a:spcPct val="0"/>
              </a:spcBef>
            </a:pPr>
            <a:r>
              <a:rPr lang="en-US" sz="9744">
                <a:solidFill>
                  <a:srgbClr val="FFFFFF"/>
                </a:solidFill>
                <a:latin typeface="Press Start 2P"/>
                <a:ea typeface="Press Start 2P"/>
                <a:cs typeface="Press Start 2P"/>
                <a:sym typeface="Press Start 2P"/>
              </a:rPr>
              <a:t>ANURA</a:t>
            </a:r>
          </a:p>
        </p:txBody>
      </p:sp>
      <p:sp>
        <p:nvSpPr>
          <p:cNvPr name="TextBox 13" id="13"/>
          <p:cNvSpPr txBox="true"/>
          <p:nvPr/>
        </p:nvSpPr>
        <p:spPr>
          <a:xfrm rot="0">
            <a:off x="4505309" y="7624467"/>
            <a:ext cx="9474038" cy="1633833"/>
          </a:xfrm>
          <a:prstGeom prst="rect">
            <a:avLst/>
          </a:prstGeom>
        </p:spPr>
        <p:txBody>
          <a:bodyPr anchor="t" rtlCol="false" tIns="0" lIns="0" bIns="0" rIns="0">
            <a:spAutoFit/>
          </a:bodyPr>
          <a:lstStyle/>
          <a:p>
            <a:pPr algn="ctr">
              <a:lnSpc>
                <a:spcPts val="3642"/>
              </a:lnSpc>
            </a:pPr>
            <a:r>
              <a:rPr lang="en-US" sz="2601">
                <a:solidFill>
                  <a:srgbClr val="FFFFFF"/>
                </a:solidFill>
                <a:latin typeface="JetBrains Mono"/>
                <a:ea typeface="JetBrains Mono"/>
                <a:cs typeface="JetBrains Mono"/>
                <a:sym typeface="JetBrains Mono"/>
              </a:rPr>
              <a:t>Renata Uruchurtu Ransom - A01786687</a:t>
            </a:r>
          </a:p>
          <a:p>
            <a:pPr algn="ctr">
              <a:lnSpc>
                <a:spcPts val="3642"/>
              </a:lnSpc>
            </a:pPr>
            <a:r>
              <a:rPr lang="en-US" sz="2601">
                <a:solidFill>
                  <a:srgbClr val="FFFFFF"/>
                </a:solidFill>
                <a:latin typeface="JetBrains Mono"/>
                <a:ea typeface="JetBrains Mono"/>
                <a:cs typeface="JetBrains Mono"/>
                <a:sym typeface="JetBrains Mono"/>
              </a:rPr>
              <a:t>Carlos Enrique Rosete Pascual - A01787451</a:t>
            </a:r>
          </a:p>
          <a:p>
            <a:pPr algn="ctr">
              <a:lnSpc>
                <a:spcPts val="3642"/>
              </a:lnSpc>
            </a:pPr>
            <a:r>
              <a:rPr lang="en-US" sz="2601">
                <a:solidFill>
                  <a:srgbClr val="FFFFFF"/>
                </a:solidFill>
                <a:latin typeface="JetBrains Mono"/>
                <a:ea typeface="JetBrains Mono"/>
                <a:cs typeface="JetBrains Mono"/>
                <a:sym typeface="JetBrains Mono"/>
              </a:rPr>
              <a:t>Emilio Torres Castillo - A01787141</a:t>
            </a:r>
          </a:p>
          <a:p>
            <a:pPr algn="ctr">
              <a:lnSpc>
                <a:spcPts val="2100"/>
              </a:lnSpc>
              <a:spcBef>
                <a:spcPct val="0"/>
              </a:spcBef>
            </a:pPr>
          </a:p>
        </p:txBody>
      </p:sp>
      <p:sp>
        <p:nvSpPr>
          <p:cNvPr name="Freeform 14" id="14"/>
          <p:cNvSpPr/>
          <p:nvPr/>
        </p:nvSpPr>
        <p:spPr>
          <a:xfrm flipH="false" flipV="false" rot="0">
            <a:off x="6474726" y="4541705"/>
            <a:ext cx="5338548" cy="4105948"/>
          </a:xfrm>
          <a:custGeom>
            <a:avLst/>
            <a:gdLst/>
            <a:ahLst/>
            <a:cxnLst/>
            <a:rect r="r" b="b" t="t" l="l"/>
            <a:pathLst>
              <a:path h="4105948" w="5338548">
                <a:moveTo>
                  <a:pt x="0" y="0"/>
                </a:moveTo>
                <a:lnTo>
                  <a:pt x="5338548" y="0"/>
                </a:lnTo>
                <a:lnTo>
                  <a:pt x="5338548" y="4105947"/>
                </a:lnTo>
                <a:lnTo>
                  <a:pt x="0" y="4105947"/>
                </a:lnTo>
                <a:lnTo>
                  <a:pt x="0" y="0"/>
                </a:lnTo>
                <a:close/>
              </a:path>
            </a:pathLst>
          </a:custGeom>
          <a:blipFill>
            <a:blip r:embed="rId16"/>
            <a:stretch>
              <a:fillRect l="-28727" t="-102290" r="-29203" b="-3051"/>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57771" y="484456"/>
            <a:ext cx="915543" cy="4114800"/>
          </a:xfrm>
          <a:custGeom>
            <a:avLst/>
            <a:gdLst/>
            <a:ahLst/>
            <a:cxnLst/>
            <a:rect r="r" b="b" t="t" l="l"/>
            <a:pathLst>
              <a:path h="4114800" w="915543">
                <a:moveTo>
                  <a:pt x="0" y="0"/>
                </a:moveTo>
                <a:lnTo>
                  <a:pt x="915543" y="0"/>
                </a:lnTo>
                <a:lnTo>
                  <a:pt x="91554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400000">
            <a:off x="16138165" y="8110361"/>
            <a:ext cx="1150809" cy="2295877"/>
          </a:xfrm>
          <a:custGeom>
            <a:avLst/>
            <a:gdLst/>
            <a:ahLst/>
            <a:cxnLst/>
            <a:rect r="r" b="b" t="t" l="l"/>
            <a:pathLst>
              <a:path h="2295877" w="1150809">
                <a:moveTo>
                  <a:pt x="0" y="0"/>
                </a:moveTo>
                <a:lnTo>
                  <a:pt x="1150809" y="0"/>
                </a:lnTo>
                <a:lnTo>
                  <a:pt x="1150809" y="2295878"/>
                </a:lnTo>
                <a:lnTo>
                  <a:pt x="0" y="22958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285297" y="8479082"/>
            <a:ext cx="1093342" cy="1093342"/>
          </a:xfrm>
          <a:custGeom>
            <a:avLst/>
            <a:gdLst/>
            <a:ahLst/>
            <a:cxnLst/>
            <a:rect r="r" b="b" t="t" l="l"/>
            <a:pathLst>
              <a:path h="1093342" w="1093342">
                <a:moveTo>
                  <a:pt x="0" y="0"/>
                </a:moveTo>
                <a:lnTo>
                  <a:pt x="1093341" y="0"/>
                </a:lnTo>
                <a:lnTo>
                  <a:pt x="1093341" y="1093342"/>
                </a:lnTo>
                <a:lnTo>
                  <a:pt x="0" y="10933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11051420" y="1565806"/>
            <a:ext cx="5908751" cy="4754634"/>
          </a:xfrm>
          <a:custGeom>
            <a:avLst/>
            <a:gdLst/>
            <a:ahLst/>
            <a:cxnLst/>
            <a:rect r="r" b="b" t="t" l="l"/>
            <a:pathLst>
              <a:path h="4754634" w="5908751">
                <a:moveTo>
                  <a:pt x="0" y="0"/>
                </a:moveTo>
                <a:lnTo>
                  <a:pt x="5908751" y="0"/>
                </a:lnTo>
                <a:lnTo>
                  <a:pt x="5908751" y="4754635"/>
                </a:lnTo>
                <a:lnTo>
                  <a:pt x="0" y="4754635"/>
                </a:lnTo>
                <a:lnTo>
                  <a:pt x="0" y="0"/>
                </a:lnTo>
                <a:close/>
              </a:path>
            </a:pathLst>
          </a:custGeom>
          <a:blipFill>
            <a:blip r:embed="rId8"/>
            <a:stretch>
              <a:fillRect l="0" t="0" r="0" b="0"/>
            </a:stretch>
          </a:blipFill>
        </p:spPr>
      </p:sp>
      <p:sp>
        <p:nvSpPr>
          <p:cNvPr name="Freeform 6" id="6"/>
          <p:cNvSpPr/>
          <p:nvPr/>
        </p:nvSpPr>
        <p:spPr>
          <a:xfrm flipH="false" flipV="false" rot="0">
            <a:off x="10740323" y="3770919"/>
            <a:ext cx="622193" cy="622193"/>
          </a:xfrm>
          <a:custGeom>
            <a:avLst/>
            <a:gdLst/>
            <a:ahLst/>
            <a:cxnLst/>
            <a:rect r="r" b="b" t="t" l="l"/>
            <a:pathLst>
              <a:path h="622193" w="622193">
                <a:moveTo>
                  <a:pt x="0" y="0"/>
                </a:moveTo>
                <a:lnTo>
                  <a:pt x="622193" y="0"/>
                </a:lnTo>
                <a:lnTo>
                  <a:pt x="622193" y="622193"/>
                </a:lnTo>
                <a:lnTo>
                  <a:pt x="0" y="62219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5973690" y="1028700"/>
            <a:ext cx="986481" cy="986481"/>
          </a:xfrm>
          <a:custGeom>
            <a:avLst/>
            <a:gdLst/>
            <a:ahLst/>
            <a:cxnLst/>
            <a:rect r="r" b="b" t="t" l="l"/>
            <a:pathLst>
              <a:path h="986481" w="986481">
                <a:moveTo>
                  <a:pt x="0" y="0"/>
                </a:moveTo>
                <a:lnTo>
                  <a:pt x="986481" y="0"/>
                </a:lnTo>
                <a:lnTo>
                  <a:pt x="986481" y="986481"/>
                </a:lnTo>
                <a:lnTo>
                  <a:pt x="0" y="98648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true" flipV="false" rot="996295">
            <a:off x="3009707" y="7868634"/>
            <a:ext cx="670191" cy="1083961"/>
          </a:xfrm>
          <a:custGeom>
            <a:avLst/>
            <a:gdLst/>
            <a:ahLst/>
            <a:cxnLst/>
            <a:rect r="r" b="b" t="t" l="l"/>
            <a:pathLst>
              <a:path h="1083961" w="670191">
                <a:moveTo>
                  <a:pt x="670191" y="0"/>
                </a:moveTo>
                <a:lnTo>
                  <a:pt x="0" y="0"/>
                </a:lnTo>
                <a:lnTo>
                  <a:pt x="0" y="1083960"/>
                </a:lnTo>
                <a:lnTo>
                  <a:pt x="670191" y="1083960"/>
                </a:lnTo>
                <a:lnTo>
                  <a:pt x="670191"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16713569" y="4785310"/>
            <a:ext cx="2616002" cy="1255681"/>
          </a:xfrm>
          <a:custGeom>
            <a:avLst/>
            <a:gdLst/>
            <a:ahLst/>
            <a:cxnLst/>
            <a:rect r="r" b="b" t="t" l="l"/>
            <a:pathLst>
              <a:path h="1255681" w="2616002">
                <a:moveTo>
                  <a:pt x="0" y="0"/>
                </a:moveTo>
                <a:lnTo>
                  <a:pt x="2616002" y="0"/>
                </a:lnTo>
                <a:lnTo>
                  <a:pt x="2616002" y="1255681"/>
                </a:lnTo>
                <a:lnTo>
                  <a:pt x="0" y="125568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10621808" y="993997"/>
            <a:ext cx="1313131" cy="1143618"/>
          </a:xfrm>
          <a:custGeom>
            <a:avLst/>
            <a:gdLst/>
            <a:ahLst/>
            <a:cxnLst/>
            <a:rect r="r" b="b" t="t" l="l"/>
            <a:pathLst>
              <a:path h="1143618" w="1313131">
                <a:moveTo>
                  <a:pt x="0" y="0"/>
                </a:moveTo>
                <a:lnTo>
                  <a:pt x="1313131" y="0"/>
                </a:lnTo>
                <a:lnTo>
                  <a:pt x="1313131" y="1143618"/>
                </a:lnTo>
                <a:lnTo>
                  <a:pt x="0" y="114361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1" id="11"/>
          <p:cNvSpPr/>
          <p:nvPr/>
        </p:nvSpPr>
        <p:spPr>
          <a:xfrm flipH="false" flipV="false" rot="0">
            <a:off x="5130769" y="8100463"/>
            <a:ext cx="2286624" cy="631940"/>
          </a:xfrm>
          <a:custGeom>
            <a:avLst/>
            <a:gdLst/>
            <a:ahLst/>
            <a:cxnLst/>
            <a:rect r="r" b="b" t="t" l="l"/>
            <a:pathLst>
              <a:path h="631940" w="2286624">
                <a:moveTo>
                  <a:pt x="0" y="0"/>
                </a:moveTo>
                <a:lnTo>
                  <a:pt x="2286624" y="0"/>
                </a:lnTo>
                <a:lnTo>
                  <a:pt x="2286624" y="631940"/>
                </a:lnTo>
                <a:lnTo>
                  <a:pt x="0" y="63194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12" id="12"/>
          <p:cNvSpPr txBox="true"/>
          <p:nvPr/>
        </p:nvSpPr>
        <p:spPr>
          <a:xfrm rot="0">
            <a:off x="2378638" y="1965141"/>
            <a:ext cx="7790886" cy="695383"/>
          </a:xfrm>
          <a:prstGeom prst="rect">
            <a:avLst/>
          </a:prstGeom>
        </p:spPr>
        <p:txBody>
          <a:bodyPr anchor="t" rtlCol="false" tIns="0" lIns="0" bIns="0" rIns="0">
            <a:spAutoFit/>
          </a:bodyPr>
          <a:lstStyle/>
          <a:p>
            <a:pPr algn="l" marL="0" indent="0" lvl="0">
              <a:lnSpc>
                <a:spcPts val="5771"/>
              </a:lnSpc>
              <a:spcBef>
                <a:spcPct val="0"/>
              </a:spcBef>
            </a:pPr>
            <a:r>
              <a:rPr lang="en-US" sz="4122">
                <a:solidFill>
                  <a:srgbClr val="FFFFFF"/>
                </a:solidFill>
                <a:latin typeface="Press Start 2P"/>
                <a:ea typeface="Press Start 2P"/>
                <a:cs typeface="Press Start 2P"/>
                <a:sym typeface="Press Start 2P"/>
              </a:rPr>
              <a:t>ELEVATOR PITCH</a:t>
            </a:r>
          </a:p>
        </p:txBody>
      </p:sp>
      <p:sp>
        <p:nvSpPr>
          <p:cNvPr name="TextBox 13" id="13"/>
          <p:cNvSpPr txBox="true"/>
          <p:nvPr/>
        </p:nvSpPr>
        <p:spPr>
          <a:xfrm rot="0">
            <a:off x="2378638" y="3068741"/>
            <a:ext cx="7790886" cy="4488357"/>
          </a:xfrm>
          <a:prstGeom prst="rect">
            <a:avLst/>
          </a:prstGeom>
        </p:spPr>
        <p:txBody>
          <a:bodyPr anchor="t" rtlCol="false" tIns="0" lIns="0" bIns="0" rIns="0">
            <a:spAutoFit/>
          </a:bodyPr>
          <a:lstStyle/>
          <a:p>
            <a:pPr algn="just" marL="0" indent="0" lvl="0">
              <a:lnSpc>
                <a:spcPts val="3984"/>
              </a:lnSpc>
              <a:spcBef>
                <a:spcPct val="0"/>
              </a:spcBef>
            </a:pPr>
            <a:r>
              <a:rPr lang="en-US" sz="2845">
                <a:solidFill>
                  <a:srgbClr val="FFFFFF"/>
                </a:solidFill>
                <a:latin typeface="JetBrains Mono"/>
                <a:ea typeface="JetBrains Mono"/>
                <a:cs typeface="JetBrains Mono"/>
                <a:sym typeface="JetBrains Mono"/>
              </a:rPr>
              <a:t>A small frog fights its way up the food chain in a 2D roguelite platformer set in a dangerous swamp. Players collect mosquitoes as persistent currency, build strategic card decks across runs, and defeat increasingly challenging predator bosses. Every card burns on use, choose wisely.</a:t>
            </a:r>
          </a:p>
        </p:txBody>
      </p:sp>
      <p:sp>
        <p:nvSpPr>
          <p:cNvPr name="TextBox 14" id="14"/>
          <p:cNvSpPr txBox="true"/>
          <p:nvPr/>
        </p:nvSpPr>
        <p:spPr>
          <a:xfrm rot="0">
            <a:off x="11058452" y="6856871"/>
            <a:ext cx="5901719" cy="1553743"/>
          </a:xfrm>
          <a:prstGeom prst="rect">
            <a:avLst/>
          </a:prstGeom>
        </p:spPr>
        <p:txBody>
          <a:bodyPr anchor="t" rtlCol="false" tIns="0" lIns="0" bIns="0" rIns="0">
            <a:spAutoFit/>
          </a:bodyPr>
          <a:lstStyle/>
          <a:p>
            <a:pPr algn="ctr">
              <a:lnSpc>
                <a:spcPts val="4120"/>
              </a:lnSpc>
              <a:spcBef>
                <a:spcPct val="0"/>
              </a:spcBef>
            </a:pPr>
            <a:r>
              <a:rPr lang="en-US" sz="2943">
                <a:solidFill>
                  <a:srgbClr val="FFFFFF"/>
                </a:solidFill>
                <a:latin typeface="Press Start 2P"/>
                <a:ea typeface="Press Start 2P"/>
                <a:cs typeface="Press Start 2P"/>
                <a:sym typeface="Press Start 2P"/>
              </a:rPr>
              <a:t>SMALL CREATURE, BIG WORLD, SMART SURVIVAL.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57771" y="484456"/>
            <a:ext cx="915543" cy="4114800"/>
          </a:xfrm>
          <a:custGeom>
            <a:avLst/>
            <a:gdLst/>
            <a:ahLst/>
            <a:cxnLst/>
            <a:rect r="r" b="b" t="t" l="l"/>
            <a:pathLst>
              <a:path h="4114800" w="915543">
                <a:moveTo>
                  <a:pt x="0" y="0"/>
                </a:moveTo>
                <a:lnTo>
                  <a:pt x="915543" y="0"/>
                </a:lnTo>
                <a:lnTo>
                  <a:pt x="91554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400000">
            <a:off x="16138165" y="8110361"/>
            <a:ext cx="1150809" cy="2295877"/>
          </a:xfrm>
          <a:custGeom>
            <a:avLst/>
            <a:gdLst/>
            <a:ahLst/>
            <a:cxnLst/>
            <a:rect r="r" b="b" t="t" l="l"/>
            <a:pathLst>
              <a:path h="2295877" w="1150809">
                <a:moveTo>
                  <a:pt x="0" y="0"/>
                </a:moveTo>
                <a:lnTo>
                  <a:pt x="1150809" y="0"/>
                </a:lnTo>
                <a:lnTo>
                  <a:pt x="1150809" y="2295878"/>
                </a:lnTo>
                <a:lnTo>
                  <a:pt x="0" y="22958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6713569" y="4785310"/>
            <a:ext cx="2616002" cy="1255681"/>
          </a:xfrm>
          <a:custGeom>
            <a:avLst/>
            <a:gdLst/>
            <a:ahLst/>
            <a:cxnLst/>
            <a:rect r="r" b="b" t="t" l="l"/>
            <a:pathLst>
              <a:path h="1255681" w="2616002">
                <a:moveTo>
                  <a:pt x="0" y="0"/>
                </a:moveTo>
                <a:lnTo>
                  <a:pt x="2616002" y="0"/>
                </a:lnTo>
                <a:lnTo>
                  <a:pt x="2616002" y="1255681"/>
                </a:lnTo>
                <a:lnTo>
                  <a:pt x="0" y="12556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2229609" y="3744895"/>
            <a:ext cx="6242879" cy="4411705"/>
            <a:chOff x="0" y="0"/>
            <a:chExt cx="1644215" cy="1161931"/>
          </a:xfrm>
        </p:grpSpPr>
        <p:sp>
          <p:nvSpPr>
            <p:cNvPr name="Freeform 6" id="6"/>
            <p:cNvSpPr/>
            <p:nvPr/>
          </p:nvSpPr>
          <p:spPr>
            <a:xfrm flipH="false" flipV="false" rot="0">
              <a:off x="0" y="0"/>
              <a:ext cx="1644215" cy="1161931"/>
            </a:xfrm>
            <a:custGeom>
              <a:avLst/>
              <a:gdLst/>
              <a:ahLst/>
              <a:cxnLst/>
              <a:rect r="r" b="b" t="t" l="l"/>
              <a:pathLst>
                <a:path h="1161931" w="1644215">
                  <a:moveTo>
                    <a:pt x="63246" y="0"/>
                  </a:moveTo>
                  <a:lnTo>
                    <a:pt x="1580969" y="0"/>
                  </a:lnTo>
                  <a:cubicBezTo>
                    <a:pt x="1615899" y="0"/>
                    <a:pt x="1644215" y="28316"/>
                    <a:pt x="1644215" y="63246"/>
                  </a:cubicBezTo>
                  <a:lnTo>
                    <a:pt x="1644215" y="1098684"/>
                  </a:lnTo>
                  <a:cubicBezTo>
                    <a:pt x="1644215" y="1133614"/>
                    <a:pt x="1615899" y="1161931"/>
                    <a:pt x="1580969" y="1161931"/>
                  </a:cubicBezTo>
                  <a:lnTo>
                    <a:pt x="63246" y="1161931"/>
                  </a:lnTo>
                  <a:cubicBezTo>
                    <a:pt x="28316" y="1161931"/>
                    <a:pt x="0" y="1133614"/>
                    <a:pt x="0" y="1098684"/>
                  </a:cubicBezTo>
                  <a:lnTo>
                    <a:pt x="0" y="63246"/>
                  </a:lnTo>
                  <a:cubicBezTo>
                    <a:pt x="0" y="28316"/>
                    <a:pt x="28316" y="0"/>
                    <a:pt x="63246" y="0"/>
                  </a:cubicBezTo>
                  <a:close/>
                </a:path>
              </a:pathLst>
            </a:custGeom>
            <a:solidFill>
              <a:srgbClr val="C1FF72"/>
            </a:solidFill>
            <a:ln w="161925" cap="rnd">
              <a:solidFill>
                <a:srgbClr val="FFFFFF"/>
              </a:solidFill>
              <a:prstDash val="solid"/>
              <a:round/>
            </a:ln>
          </p:spPr>
        </p:sp>
        <p:sp>
          <p:nvSpPr>
            <p:cNvPr name="TextBox 7" id="7"/>
            <p:cNvSpPr txBox="true"/>
            <p:nvPr/>
          </p:nvSpPr>
          <p:spPr>
            <a:xfrm>
              <a:off x="0" y="-38100"/>
              <a:ext cx="1644215" cy="1200031"/>
            </a:xfrm>
            <a:prstGeom prst="rect">
              <a:avLst/>
            </a:prstGeom>
          </p:spPr>
          <p:txBody>
            <a:bodyPr anchor="ctr" rtlCol="false" tIns="50800" lIns="50800" bIns="50800" rIns="50800"/>
            <a:lstStyle/>
            <a:p>
              <a:pPr algn="just">
                <a:lnSpc>
                  <a:spcPts val="2956"/>
                </a:lnSpc>
              </a:pPr>
              <a:r>
                <a:rPr lang="en-US" sz="2111">
                  <a:solidFill>
                    <a:srgbClr val="000000"/>
                  </a:solidFill>
                  <a:latin typeface="JetBrains Mono"/>
                  <a:ea typeface="JetBrains Mono"/>
                  <a:cs typeface="JetBrains Mono"/>
                  <a:sym typeface="JetBrains Mono"/>
                </a:rPr>
                <a:t>A 2D roguelite where you control a small frog surviving in a dangerous swamp.</a:t>
              </a:r>
            </a:p>
            <a:p>
              <a:pPr algn="just">
                <a:lnSpc>
                  <a:spcPts val="2956"/>
                </a:lnSpc>
              </a:pPr>
            </a:p>
            <a:p>
              <a:pPr algn="just">
                <a:lnSpc>
                  <a:spcPts val="2956"/>
                </a:lnSpc>
              </a:pPr>
              <a:r>
                <a:rPr lang="en-US" sz="2111">
                  <a:solidFill>
                    <a:srgbClr val="000000"/>
                  </a:solidFill>
                  <a:latin typeface="JetBrains Mono"/>
                  <a:ea typeface="JetBrains Mono"/>
                  <a:cs typeface="JetBrains Mono"/>
                  <a:sym typeface="JetBrains Mono"/>
                </a:rPr>
                <a:t>• Navigate platforming sections</a:t>
              </a:r>
            </a:p>
            <a:p>
              <a:pPr algn="just">
                <a:lnSpc>
                  <a:spcPts val="2956"/>
                </a:lnSpc>
              </a:pPr>
              <a:r>
                <a:rPr lang="en-US" sz="2111">
                  <a:solidFill>
                    <a:srgbClr val="000000"/>
                  </a:solidFill>
                  <a:latin typeface="JetBrains Mono"/>
                  <a:ea typeface="JetBrains Mono"/>
                  <a:cs typeface="JetBrains Mono"/>
                  <a:sym typeface="JetBrains Mono"/>
                </a:rPr>
                <a:t>• Collect mosquitoes (currency)</a:t>
              </a:r>
            </a:p>
            <a:p>
              <a:pPr algn="just">
                <a:lnSpc>
                  <a:spcPts val="2956"/>
                </a:lnSpc>
              </a:pPr>
              <a:r>
                <a:rPr lang="en-US" sz="2111">
                  <a:solidFill>
                    <a:srgbClr val="000000"/>
                  </a:solidFill>
                  <a:latin typeface="JetBrains Mono"/>
                  <a:ea typeface="JetBrains Mono"/>
                  <a:cs typeface="JetBrains Mono"/>
                  <a:sym typeface="JetBrains Mono"/>
                </a:rPr>
                <a:t>• Face bosses with unique patterns</a:t>
              </a:r>
            </a:p>
            <a:p>
              <a:pPr algn="just">
                <a:lnSpc>
                  <a:spcPts val="2956"/>
                </a:lnSpc>
              </a:pPr>
              <a:r>
                <a:rPr lang="en-US" sz="2111">
                  <a:solidFill>
                    <a:srgbClr val="000000"/>
                  </a:solidFill>
                  <a:latin typeface="JetBrains Mono"/>
                  <a:ea typeface="JetBrains Mono"/>
                  <a:cs typeface="JetBrains Mono"/>
                  <a:sym typeface="JetBrains Mono"/>
                </a:rPr>
                <a:t>• Build strategic decks</a:t>
              </a:r>
            </a:p>
            <a:p>
              <a:pPr algn="just">
                <a:lnSpc>
                  <a:spcPts val="2956"/>
                </a:lnSpc>
              </a:pPr>
            </a:p>
            <a:p>
              <a:pPr algn="just">
                <a:lnSpc>
                  <a:spcPts val="2956"/>
                </a:lnSpc>
              </a:pPr>
            </a:p>
          </p:txBody>
        </p:sp>
      </p:grpSp>
      <p:sp>
        <p:nvSpPr>
          <p:cNvPr name="TextBox 8" id="8"/>
          <p:cNvSpPr txBox="true"/>
          <p:nvPr/>
        </p:nvSpPr>
        <p:spPr>
          <a:xfrm rot="0">
            <a:off x="3371071" y="1132577"/>
            <a:ext cx="11545858" cy="606425"/>
          </a:xfrm>
          <a:prstGeom prst="rect">
            <a:avLst/>
          </a:prstGeom>
        </p:spPr>
        <p:txBody>
          <a:bodyPr anchor="t" rtlCol="false" tIns="0" lIns="0" bIns="0" rIns="0">
            <a:spAutoFit/>
          </a:bodyPr>
          <a:lstStyle/>
          <a:p>
            <a:pPr algn="ctr">
              <a:lnSpc>
                <a:spcPts val="4900"/>
              </a:lnSpc>
            </a:pPr>
            <a:r>
              <a:rPr lang="en-US" sz="3500">
                <a:solidFill>
                  <a:srgbClr val="FFFFFF"/>
                </a:solidFill>
                <a:latin typeface="Press Start 2P"/>
                <a:ea typeface="Press Start 2P"/>
                <a:cs typeface="Press Start 2P"/>
                <a:sym typeface="Press Start 2P"/>
              </a:rPr>
              <a:t>GAME OBJECTIVE</a:t>
            </a:r>
          </a:p>
        </p:txBody>
      </p:sp>
      <p:sp>
        <p:nvSpPr>
          <p:cNvPr name="TextBox 9" id="9"/>
          <p:cNvSpPr txBox="true"/>
          <p:nvPr/>
        </p:nvSpPr>
        <p:spPr>
          <a:xfrm rot="0">
            <a:off x="10829308" y="1877995"/>
            <a:ext cx="4543806" cy="1866900"/>
          </a:xfrm>
          <a:prstGeom prst="rect">
            <a:avLst/>
          </a:prstGeom>
        </p:spPr>
        <p:txBody>
          <a:bodyPr anchor="t" rtlCol="false" tIns="0" lIns="0" bIns="0" rIns="0">
            <a:spAutoFit/>
          </a:bodyPr>
          <a:lstStyle/>
          <a:p>
            <a:pPr algn="just">
              <a:lnSpc>
                <a:spcPts val="2100"/>
              </a:lnSpc>
            </a:pPr>
            <a:r>
              <a:rPr lang="en-US" sz="1500">
                <a:solidFill>
                  <a:srgbClr val="090D0F"/>
                </a:solidFill>
                <a:latin typeface="JetBrains Mono"/>
                <a:ea typeface="JetBrains Mono"/>
                <a:cs typeface="JetBrains Mono"/>
                <a:sym typeface="JetBrains Mono"/>
              </a:rPr>
              <a:t>El contraste entre exploración tranquila y combate intenso crea ritmo emocional.</a:t>
            </a:r>
          </a:p>
          <a:p>
            <a:pPr algn="just">
              <a:lnSpc>
                <a:spcPts val="2100"/>
              </a:lnSpc>
            </a:pPr>
          </a:p>
          <a:p>
            <a:pPr algn="just">
              <a:lnSpc>
                <a:spcPts val="2100"/>
              </a:lnSpc>
              <a:spcBef>
                <a:spcPct val="0"/>
              </a:spcBef>
            </a:pPr>
            <a:r>
              <a:rPr lang="en-US" sz="1500">
                <a:solidFill>
                  <a:srgbClr val="090D0F"/>
                </a:solidFill>
                <a:latin typeface="JetBrains Mono"/>
                <a:ea typeface="JetBrains Mono"/>
                <a:cs typeface="JetBrains Mono"/>
                <a:sym typeface="JetBrains Mono"/>
              </a:rPr>
              <a:t>La progresión esta basada en aprendizaje y mejora estratégica, no solo reflejos o movimientos aleatorios.</a:t>
            </a:r>
          </a:p>
        </p:txBody>
      </p:sp>
      <p:grpSp>
        <p:nvGrpSpPr>
          <p:cNvPr name="Group 10" id="10"/>
          <p:cNvGrpSpPr/>
          <p:nvPr/>
        </p:nvGrpSpPr>
        <p:grpSpPr>
          <a:xfrm rot="0">
            <a:off x="9815512" y="3744895"/>
            <a:ext cx="6242879" cy="4411705"/>
            <a:chOff x="0" y="0"/>
            <a:chExt cx="1644215" cy="1161931"/>
          </a:xfrm>
        </p:grpSpPr>
        <p:sp>
          <p:nvSpPr>
            <p:cNvPr name="Freeform 11" id="11"/>
            <p:cNvSpPr/>
            <p:nvPr/>
          </p:nvSpPr>
          <p:spPr>
            <a:xfrm flipH="false" flipV="false" rot="0">
              <a:off x="0" y="0"/>
              <a:ext cx="1644215" cy="1161931"/>
            </a:xfrm>
            <a:custGeom>
              <a:avLst/>
              <a:gdLst/>
              <a:ahLst/>
              <a:cxnLst/>
              <a:rect r="r" b="b" t="t" l="l"/>
              <a:pathLst>
                <a:path h="1161931" w="1644215">
                  <a:moveTo>
                    <a:pt x="63246" y="0"/>
                  </a:moveTo>
                  <a:lnTo>
                    <a:pt x="1580969" y="0"/>
                  </a:lnTo>
                  <a:cubicBezTo>
                    <a:pt x="1615899" y="0"/>
                    <a:pt x="1644215" y="28316"/>
                    <a:pt x="1644215" y="63246"/>
                  </a:cubicBezTo>
                  <a:lnTo>
                    <a:pt x="1644215" y="1098684"/>
                  </a:lnTo>
                  <a:cubicBezTo>
                    <a:pt x="1644215" y="1133614"/>
                    <a:pt x="1615899" y="1161931"/>
                    <a:pt x="1580969" y="1161931"/>
                  </a:cubicBezTo>
                  <a:lnTo>
                    <a:pt x="63246" y="1161931"/>
                  </a:lnTo>
                  <a:cubicBezTo>
                    <a:pt x="28316" y="1161931"/>
                    <a:pt x="0" y="1133614"/>
                    <a:pt x="0" y="1098684"/>
                  </a:cubicBezTo>
                  <a:lnTo>
                    <a:pt x="0" y="63246"/>
                  </a:lnTo>
                  <a:cubicBezTo>
                    <a:pt x="0" y="28316"/>
                    <a:pt x="28316" y="0"/>
                    <a:pt x="63246" y="0"/>
                  </a:cubicBezTo>
                  <a:close/>
                </a:path>
              </a:pathLst>
            </a:custGeom>
            <a:solidFill>
              <a:srgbClr val="C1FF72"/>
            </a:solidFill>
            <a:ln w="161925" cap="rnd">
              <a:solidFill>
                <a:srgbClr val="FFFFFF"/>
              </a:solidFill>
              <a:prstDash val="solid"/>
              <a:round/>
            </a:ln>
          </p:spPr>
        </p:sp>
        <p:sp>
          <p:nvSpPr>
            <p:cNvPr name="TextBox 12" id="12"/>
            <p:cNvSpPr txBox="true"/>
            <p:nvPr/>
          </p:nvSpPr>
          <p:spPr>
            <a:xfrm>
              <a:off x="0" y="-38100"/>
              <a:ext cx="1644215" cy="1200031"/>
            </a:xfrm>
            <a:prstGeom prst="rect">
              <a:avLst/>
            </a:prstGeom>
          </p:spPr>
          <p:txBody>
            <a:bodyPr anchor="ctr" rtlCol="false" tIns="50800" lIns="50800" bIns="50800" rIns="50800"/>
            <a:lstStyle/>
            <a:p>
              <a:pPr algn="just">
                <a:lnSpc>
                  <a:spcPts val="2956"/>
                </a:lnSpc>
              </a:pPr>
              <a:r>
                <a:rPr lang="en-US" sz="2111">
                  <a:solidFill>
                    <a:srgbClr val="000000"/>
                  </a:solidFill>
                  <a:latin typeface="JetBrains Mono"/>
                  <a:ea typeface="JetBrains Mono"/>
                  <a:cs typeface="JetBrains Mono"/>
                  <a:sym typeface="JetBrains Mono"/>
                </a:rPr>
                <a:t>Survive and climb the food chain by defeating all bosses in a single run.</a:t>
              </a:r>
            </a:p>
            <a:p>
              <a:pPr algn="just">
                <a:lnSpc>
                  <a:spcPts val="2956"/>
                </a:lnSpc>
              </a:pPr>
            </a:p>
            <a:p>
              <a:pPr algn="just">
                <a:lnSpc>
                  <a:spcPts val="2956"/>
                </a:lnSpc>
              </a:pPr>
              <a:r>
                <a:rPr lang="en-US" sz="2111">
                  <a:solidFill>
                    <a:srgbClr val="000000"/>
                  </a:solidFill>
                  <a:latin typeface="JetBrains Mono"/>
                  <a:ea typeface="JetBrains Mono"/>
                  <a:cs typeface="JetBrains Mono"/>
                  <a:sym typeface="JetBrains Mono"/>
                </a:rPr>
                <a:t>Each run:</a:t>
              </a:r>
            </a:p>
            <a:p>
              <a:pPr algn="just">
                <a:lnSpc>
                  <a:spcPts val="2956"/>
                </a:lnSpc>
              </a:pPr>
              <a:r>
                <a:rPr lang="en-US" sz="2111">
                  <a:solidFill>
                    <a:srgbClr val="000000"/>
                  </a:solidFill>
                  <a:latin typeface="JetBrains Mono"/>
                  <a:ea typeface="JetBrains Mono"/>
                  <a:cs typeface="JetBrains Mono"/>
                  <a:sym typeface="JetBrains Mono"/>
                </a:rPr>
                <a:t>1. Platforms → Boss 1</a:t>
              </a:r>
            </a:p>
            <a:p>
              <a:pPr algn="just">
                <a:lnSpc>
                  <a:spcPts val="2956"/>
                </a:lnSpc>
              </a:pPr>
              <a:r>
                <a:rPr lang="en-US" sz="2111">
                  <a:solidFill>
                    <a:srgbClr val="000000"/>
                  </a:solidFill>
                  <a:latin typeface="JetBrains Mono"/>
                  <a:ea typeface="JetBrains Mono"/>
                  <a:cs typeface="JetBrains Mono"/>
                  <a:sym typeface="JetBrains Mono"/>
                </a:rPr>
                <a:t>2. Platforms → Boss 2 (Final)</a:t>
              </a:r>
            </a:p>
            <a:p>
              <a:pPr algn="just">
                <a:lnSpc>
                  <a:spcPts val="2956"/>
                </a:lnSpc>
              </a:pPr>
            </a:p>
            <a:p>
              <a:pPr algn="just">
                <a:lnSpc>
                  <a:spcPts val="2956"/>
                </a:lnSpc>
              </a:pPr>
              <a:r>
                <a:rPr lang="en-US" sz="2111">
                  <a:solidFill>
                    <a:srgbClr val="000000"/>
                  </a:solidFill>
                  <a:latin typeface="JetBrains Mono"/>
                  <a:ea typeface="JetBrains Mono"/>
                  <a:cs typeface="JetBrains Mono"/>
                  <a:sym typeface="JetBrains Mono"/>
                </a:rPr>
                <a:t>Death = progress</a:t>
              </a:r>
            </a:p>
            <a:p>
              <a:pPr algn="just">
                <a:lnSpc>
                  <a:spcPts val="2956"/>
                </a:lnSpc>
              </a:pPr>
              <a:r>
                <a:rPr lang="en-US" sz="2111">
                  <a:solidFill>
                    <a:srgbClr val="000000"/>
                  </a:solidFill>
                  <a:latin typeface="JetBrains Mono"/>
                  <a:ea typeface="JetBrains Mono"/>
                  <a:cs typeface="JetBrains Mono"/>
                  <a:sym typeface="JetBrains Mono"/>
                </a:rPr>
                <a:t>Buy cards → Try again stronger</a:t>
              </a:r>
            </a:p>
          </p:txBody>
        </p:sp>
      </p:grpSp>
      <p:sp>
        <p:nvSpPr>
          <p:cNvPr name="TextBox 13" id="13"/>
          <p:cNvSpPr txBox="true"/>
          <p:nvPr/>
        </p:nvSpPr>
        <p:spPr>
          <a:xfrm rot="0">
            <a:off x="3272864" y="2465656"/>
            <a:ext cx="4156368" cy="1225550"/>
          </a:xfrm>
          <a:prstGeom prst="rect">
            <a:avLst/>
          </a:prstGeom>
        </p:spPr>
        <p:txBody>
          <a:bodyPr anchor="t" rtlCol="false" tIns="0" lIns="0" bIns="0" rIns="0">
            <a:spAutoFit/>
          </a:bodyPr>
          <a:lstStyle/>
          <a:p>
            <a:pPr algn="ctr">
              <a:lnSpc>
                <a:spcPts val="4900"/>
              </a:lnSpc>
            </a:pPr>
            <a:r>
              <a:rPr lang="en-US" sz="3500">
                <a:solidFill>
                  <a:srgbClr val="FFFFFF"/>
                </a:solidFill>
                <a:latin typeface="Press Start 2P"/>
                <a:ea typeface="Press Start 2P"/>
                <a:cs typeface="Press Start 2P"/>
                <a:sym typeface="Press Start 2P"/>
              </a:rPr>
              <a:t>WHAT IS ANURA?</a:t>
            </a:r>
          </a:p>
        </p:txBody>
      </p:sp>
      <p:sp>
        <p:nvSpPr>
          <p:cNvPr name="TextBox 14" id="14"/>
          <p:cNvSpPr txBox="true"/>
          <p:nvPr/>
        </p:nvSpPr>
        <p:spPr>
          <a:xfrm rot="0">
            <a:off x="11729672" y="2465656"/>
            <a:ext cx="2414559" cy="1225550"/>
          </a:xfrm>
          <a:prstGeom prst="rect">
            <a:avLst/>
          </a:prstGeom>
        </p:spPr>
        <p:txBody>
          <a:bodyPr anchor="t" rtlCol="false" tIns="0" lIns="0" bIns="0" rIns="0">
            <a:spAutoFit/>
          </a:bodyPr>
          <a:lstStyle/>
          <a:p>
            <a:pPr algn="ctr">
              <a:lnSpc>
                <a:spcPts val="4900"/>
              </a:lnSpc>
            </a:pPr>
            <a:r>
              <a:rPr lang="en-US" sz="3500">
                <a:solidFill>
                  <a:srgbClr val="FFFFFF"/>
                </a:solidFill>
                <a:latin typeface="Press Start 2P"/>
                <a:ea typeface="Press Start 2P"/>
                <a:cs typeface="Press Start 2P"/>
                <a:sym typeface="Press Start 2P"/>
              </a:rPr>
              <a:t>MAIN GOAL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57771" y="484456"/>
            <a:ext cx="915543" cy="4114800"/>
          </a:xfrm>
          <a:custGeom>
            <a:avLst/>
            <a:gdLst/>
            <a:ahLst/>
            <a:cxnLst/>
            <a:rect r="r" b="b" t="t" l="l"/>
            <a:pathLst>
              <a:path h="4114800" w="915543">
                <a:moveTo>
                  <a:pt x="0" y="0"/>
                </a:moveTo>
                <a:lnTo>
                  <a:pt x="915543" y="0"/>
                </a:lnTo>
                <a:lnTo>
                  <a:pt x="91554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400000">
            <a:off x="16138165" y="8110361"/>
            <a:ext cx="1150809" cy="2295877"/>
          </a:xfrm>
          <a:custGeom>
            <a:avLst/>
            <a:gdLst/>
            <a:ahLst/>
            <a:cxnLst/>
            <a:rect r="r" b="b" t="t" l="l"/>
            <a:pathLst>
              <a:path h="2295877" w="1150809">
                <a:moveTo>
                  <a:pt x="0" y="0"/>
                </a:moveTo>
                <a:lnTo>
                  <a:pt x="1150809" y="0"/>
                </a:lnTo>
                <a:lnTo>
                  <a:pt x="1150809" y="2295878"/>
                </a:lnTo>
                <a:lnTo>
                  <a:pt x="0" y="22958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285297" y="8479082"/>
            <a:ext cx="1093342" cy="1093342"/>
          </a:xfrm>
          <a:custGeom>
            <a:avLst/>
            <a:gdLst/>
            <a:ahLst/>
            <a:cxnLst/>
            <a:rect r="r" b="b" t="t" l="l"/>
            <a:pathLst>
              <a:path h="1093342" w="1093342">
                <a:moveTo>
                  <a:pt x="0" y="0"/>
                </a:moveTo>
                <a:lnTo>
                  <a:pt x="1093341" y="0"/>
                </a:lnTo>
                <a:lnTo>
                  <a:pt x="1093341" y="1093342"/>
                </a:lnTo>
                <a:lnTo>
                  <a:pt x="0" y="10933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16713569" y="4785310"/>
            <a:ext cx="2616002" cy="1255681"/>
          </a:xfrm>
          <a:custGeom>
            <a:avLst/>
            <a:gdLst/>
            <a:ahLst/>
            <a:cxnLst/>
            <a:rect r="r" b="b" t="t" l="l"/>
            <a:pathLst>
              <a:path h="1255681" w="2616002">
                <a:moveTo>
                  <a:pt x="0" y="0"/>
                </a:moveTo>
                <a:lnTo>
                  <a:pt x="2616002" y="0"/>
                </a:lnTo>
                <a:lnTo>
                  <a:pt x="2616002" y="1255681"/>
                </a:lnTo>
                <a:lnTo>
                  <a:pt x="0" y="12556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1028700" y="952500"/>
            <a:ext cx="16230600" cy="695383"/>
          </a:xfrm>
          <a:prstGeom prst="rect">
            <a:avLst/>
          </a:prstGeom>
        </p:spPr>
        <p:txBody>
          <a:bodyPr anchor="t" rtlCol="false" tIns="0" lIns="0" bIns="0" rIns="0">
            <a:spAutoFit/>
          </a:bodyPr>
          <a:lstStyle/>
          <a:p>
            <a:pPr algn="ctr" marL="0" indent="0" lvl="1">
              <a:lnSpc>
                <a:spcPts val="5771"/>
              </a:lnSpc>
              <a:spcBef>
                <a:spcPct val="0"/>
              </a:spcBef>
            </a:pPr>
            <a:r>
              <a:rPr lang="en-US" sz="4122">
                <a:solidFill>
                  <a:srgbClr val="FFFFFF"/>
                </a:solidFill>
                <a:latin typeface="Press Start 2P"/>
                <a:ea typeface="Press Start 2P"/>
                <a:cs typeface="Press Start 2P"/>
                <a:sym typeface="Press Start 2P"/>
              </a:rPr>
              <a:t>CORE MECHANICS</a:t>
            </a:r>
          </a:p>
        </p:txBody>
      </p:sp>
      <p:sp>
        <p:nvSpPr>
          <p:cNvPr name="TextBox 7" id="7"/>
          <p:cNvSpPr txBox="true"/>
          <p:nvPr/>
        </p:nvSpPr>
        <p:spPr>
          <a:xfrm rot="0">
            <a:off x="3837360" y="5954414"/>
            <a:ext cx="4288140" cy="3327737"/>
          </a:xfrm>
          <a:prstGeom prst="rect">
            <a:avLst/>
          </a:prstGeom>
        </p:spPr>
        <p:txBody>
          <a:bodyPr anchor="t" rtlCol="false" tIns="0" lIns="0" bIns="0" rIns="0">
            <a:spAutoFit/>
          </a:bodyPr>
          <a:lstStyle/>
          <a:p>
            <a:pPr algn="l">
              <a:lnSpc>
                <a:spcPts val="2956"/>
              </a:lnSpc>
            </a:pPr>
            <a:r>
              <a:rPr lang="en-US" sz="2111" b="true">
                <a:solidFill>
                  <a:srgbClr val="FFFFFF"/>
                </a:solidFill>
                <a:latin typeface="JetBrains Mono Bold"/>
                <a:ea typeface="JetBrains Mono Bold"/>
                <a:cs typeface="JetBrains Mono Bold"/>
                <a:sym typeface="JetBrains Mono Bold"/>
              </a:rPr>
              <a:t>Mosquitoes</a:t>
            </a:r>
          </a:p>
          <a:p>
            <a:pPr algn="l" marL="455921" indent="-227960" lvl="1">
              <a:lnSpc>
                <a:spcPts val="2956"/>
              </a:lnSpc>
              <a:buFont typeface="Arial"/>
              <a:buChar char="•"/>
            </a:pPr>
            <a:r>
              <a:rPr lang="en-US" b="true" sz="2111">
                <a:solidFill>
                  <a:srgbClr val="FFFFFF"/>
                </a:solidFill>
                <a:latin typeface="JetBrains Mono Bold"/>
                <a:ea typeface="JetBrains Mono Bold"/>
                <a:cs typeface="JetBrains Mono Bold"/>
                <a:sym typeface="JetBrains Mono Bold"/>
              </a:rPr>
              <a:t>Never lost on death</a:t>
            </a:r>
          </a:p>
          <a:p>
            <a:pPr algn="l" marL="455921" indent="-227960" lvl="1">
              <a:lnSpc>
                <a:spcPts val="2956"/>
              </a:lnSpc>
              <a:buFont typeface="Arial"/>
              <a:buChar char="•"/>
            </a:pPr>
            <a:r>
              <a:rPr lang="en-US" b="true" sz="2111">
                <a:solidFill>
                  <a:srgbClr val="FFFFFF"/>
                </a:solidFill>
                <a:latin typeface="JetBrains Mono Bold"/>
                <a:ea typeface="JetBrains Mono Bold"/>
                <a:cs typeface="JetBrains Mono Bold"/>
                <a:sym typeface="JetBrains Mono Bold"/>
              </a:rPr>
              <a:t>Persist across runs</a:t>
            </a:r>
          </a:p>
          <a:p>
            <a:pPr algn="l" marL="455921" indent="-227960" lvl="1">
              <a:lnSpc>
                <a:spcPts val="2956"/>
              </a:lnSpc>
              <a:buFont typeface="Arial"/>
              <a:buChar char="•"/>
            </a:pPr>
            <a:r>
              <a:rPr lang="en-US" b="true" sz="2111">
                <a:solidFill>
                  <a:srgbClr val="FFFFFF"/>
                </a:solidFill>
                <a:latin typeface="JetBrains Mono Bold"/>
                <a:ea typeface="JetBrains Mono Bold"/>
                <a:cs typeface="JetBrains Mono Bold"/>
                <a:sym typeface="JetBrains Mono Bold"/>
              </a:rPr>
              <a:t>Spent on new cards</a:t>
            </a:r>
          </a:p>
          <a:p>
            <a:pPr algn="l" marL="455921" indent="-227960" lvl="1">
              <a:lnSpc>
                <a:spcPts val="2956"/>
              </a:lnSpc>
              <a:buFont typeface="Arial"/>
              <a:buChar char="•"/>
            </a:pPr>
            <a:r>
              <a:rPr lang="en-US" b="true" sz="2111">
                <a:solidFill>
                  <a:srgbClr val="FFFFFF"/>
                </a:solidFill>
                <a:latin typeface="JetBrains Mono Bold"/>
                <a:ea typeface="JetBrains Mono Bold"/>
                <a:cs typeface="JetBrains Mono Bold"/>
                <a:sym typeface="JetBrains Mono Bold"/>
              </a:rPr>
              <a:t>Fair and permanent progression</a:t>
            </a:r>
          </a:p>
          <a:p>
            <a:pPr algn="l">
              <a:lnSpc>
                <a:spcPts val="2956"/>
              </a:lnSpc>
            </a:pPr>
          </a:p>
          <a:p>
            <a:pPr algn="l">
              <a:lnSpc>
                <a:spcPts val="2956"/>
              </a:lnSpc>
            </a:pPr>
          </a:p>
          <a:p>
            <a:pPr algn="l" marL="0" indent="0" lvl="0">
              <a:lnSpc>
                <a:spcPts val="2956"/>
              </a:lnSpc>
              <a:spcBef>
                <a:spcPct val="0"/>
              </a:spcBef>
            </a:pPr>
          </a:p>
        </p:txBody>
      </p:sp>
      <p:grpSp>
        <p:nvGrpSpPr>
          <p:cNvPr name="Group 8" id="8"/>
          <p:cNvGrpSpPr/>
          <p:nvPr/>
        </p:nvGrpSpPr>
        <p:grpSpPr>
          <a:xfrm rot="0">
            <a:off x="1831967" y="2430562"/>
            <a:ext cx="14342181" cy="3289637"/>
            <a:chOff x="0" y="0"/>
            <a:chExt cx="19122908" cy="4386183"/>
          </a:xfrm>
        </p:grpSpPr>
        <p:sp>
          <p:nvSpPr>
            <p:cNvPr name="TextBox 9" id="9"/>
            <p:cNvSpPr txBox="true"/>
            <p:nvPr/>
          </p:nvSpPr>
          <p:spPr>
            <a:xfrm rot="0">
              <a:off x="6467555" y="-38100"/>
              <a:ext cx="6132223" cy="3928983"/>
            </a:xfrm>
            <a:prstGeom prst="rect">
              <a:avLst/>
            </a:prstGeom>
          </p:spPr>
          <p:txBody>
            <a:bodyPr anchor="t" rtlCol="false" tIns="0" lIns="0" bIns="0" rIns="0">
              <a:spAutoFit/>
            </a:bodyPr>
            <a:lstStyle/>
            <a:p>
              <a:pPr algn="just">
                <a:lnSpc>
                  <a:spcPts val="2956"/>
                </a:lnSpc>
              </a:pPr>
              <a:r>
                <a:rPr lang="en-US" sz="2111" b="true">
                  <a:solidFill>
                    <a:srgbClr val="FFFFFF"/>
                  </a:solidFill>
                  <a:latin typeface="JetBrains Mono Bold"/>
                  <a:ea typeface="JetBrains Mono Bold"/>
                  <a:cs typeface="JetBrains Mono Bold"/>
                  <a:sym typeface="JetBrains Mono Bold"/>
                </a:rPr>
                <a:t>TONGUE</a:t>
              </a:r>
            </a:p>
            <a:p>
              <a:pPr algn="l" marL="455921" indent="-227960" lvl="1">
                <a:lnSpc>
                  <a:spcPts val="2956"/>
                </a:lnSpc>
                <a:buFont typeface="Arial"/>
                <a:buChar char="•"/>
              </a:pPr>
              <a:r>
                <a:rPr lang="en-US" sz="2111">
                  <a:solidFill>
                    <a:srgbClr val="FFFFFF"/>
                  </a:solidFill>
                  <a:latin typeface="JetBrains Mono"/>
                  <a:ea typeface="JetBrains Mono"/>
                  <a:cs typeface="JetBrains Mono"/>
                  <a:sym typeface="JetBrains Mono"/>
                </a:rPr>
                <a:t>Primary weapon</a:t>
              </a:r>
            </a:p>
            <a:p>
              <a:pPr algn="just" marL="455921" indent="-227960" lvl="1">
                <a:lnSpc>
                  <a:spcPts val="2956"/>
                </a:lnSpc>
                <a:buFont typeface="Arial"/>
                <a:buChar char="•"/>
              </a:pPr>
              <a:r>
                <a:rPr lang="en-US" sz="2111">
                  <a:solidFill>
                    <a:srgbClr val="FFFFFF"/>
                  </a:solidFill>
                  <a:latin typeface="JetBrains Mono"/>
                  <a:ea typeface="JetBrains Mono"/>
                  <a:cs typeface="JetBrains Mono"/>
                  <a:sym typeface="JetBrains Mono"/>
                </a:rPr>
                <a:t>Collects mosquitoes</a:t>
              </a:r>
            </a:p>
            <a:p>
              <a:pPr algn="just" marL="455921" indent="-227960" lvl="1">
                <a:lnSpc>
                  <a:spcPts val="2956"/>
                </a:lnSpc>
                <a:buFont typeface="Arial"/>
                <a:buChar char="•"/>
              </a:pPr>
              <a:r>
                <a:rPr lang="en-US" sz="2111">
                  <a:solidFill>
                    <a:srgbClr val="FFFFFF"/>
                  </a:solidFill>
                  <a:latin typeface="JetBrains Mono"/>
                  <a:ea typeface="JetBrains Mono"/>
                  <a:cs typeface="JetBrains Mono"/>
                  <a:sym typeface="JetBrains Mono"/>
                </a:rPr>
                <a:t>M</a:t>
              </a:r>
              <a:r>
                <a:rPr lang="en-US" sz="2111">
                  <a:solidFill>
                    <a:srgbClr val="FFFFFF"/>
                  </a:solidFill>
                  <a:latin typeface="JetBrains Mono"/>
                  <a:ea typeface="JetBrains Mono"/>
                  <a:cs typeface="JetBrains Mono"/>
                  <a:sym typeface="JetBrains Mono"/>
                </a:rPr>
                <a:t>elee attack</a:t>
              </a:r>
            </a:p>
            <a:p>
              <a:pPr algn="just" marL="455921" indent="-227960" lvl="1">
                <a:lnSpc>
                  <a:spcPts val="2956"/>
                </a:lnSpc>
                <a:buFont typeface="Arial"/>
                <a:buChar char="•"/>
              </a:pPr>
              <a:r>
                <a:rPr lang="en-US" sz="2111">
                  <a:solidFill>
                    <a:srgbClr val="FFFFFF"/>
                  </a:solidFill>
                  <a:latin typeface="JetBrains Mono"/>
                  <a:ea typeface="JetBrains Mono"/>
                  <a:cs typeface="JetBrains Mono"/>
                  <a:sym typeface="JetBrains Mono"/>
                </a:rPr>
                <a:t>Hi</a:t>
              </a:r>
              <a:r>
                <a:rPr lang="en-US" sz="2111">
                  <a:solidFill>
                    <a:srgbClr val="FFFFFF"/>
                  </a:solidFill>
                  <a:latin typeface="JetBrains Mono"/>
                  <a:ea typeface="JetBrains Mono"/>
                  <a:cs typeface="JetBrains Mono"/>
                  <a:sym typeface="JetBrains Mono"/>
                </a:rPr>
                <a:t>tbox system</a:t>
              </a:r>
            </a:p>
            <a:p>
              <a:pPr algn="just">
                <a:lnSpc>
                  <a:spcPts val="2956"/>
                </a:lnSpc>
              </a:pPr>
            </a:p>
            <a:p>
              <a:pPr algn="just">
                <a:lnSpc>
                  <a:spcPts val="2956"/>
                </a:lnSpc>
              </a:pPr>
            </a:p>
            <a:p>
              <a:pPr algn="just" marL="0" indent="0" lvl="0">
                <a:lnSpc>
                  <a:spcPts val="2956"/>
                </a:lnSpc>
                <a:spcBef>
                  <a:spcPct val="0"/>
                </a:spcBef>
              </a:pPr>
            </a:p>
          </p:txBody>
        </p:sp>
        <p:sp>
          <p:nvSpPr>
            <p:cNvPr name="TextBox 10" id="10"/>
            <p:cNvSpPr txBox="true"/>
            <p:nvPr/>
          </p:nvSpPr>
          <p:spPr>
            <a:xfrm rot="0">
              <a:off x="0" y="-38100"/>
              <a:ext cx="5532617" cy="4424283"/>
            </a:xfrm>
            <a:prstGeom prst="rect">
              <a:avLst/>
            </a:prstGeom>
          </p:spPr>
          <p:txBody>
            <a:bodyPr anchor="t" rtlCol="false" tIns="0" lIns="0" bIns="0" rIns="0">
              <a:spAutoFit/>
            </a:bodyPr>
            <a:lstStyle/>
            <a:p>
              <a:pPr algn="just">
                <a:lnSpc>
                  <a:spcPts val="2956"/>
                </a:lnSpc>
              </a:pPr>
              <a:r>
                <a:rPr lang="en-US" sz="2111" b="true">
                  <a:solidFill>
                    <a:srgbClr val="FFFFFF"/>
                  </a:solidFill>
                  <a:latin typeface="JetBrains Mono Bold"/>
                  <a:ea typeface="JetBrains Mono Bold"/>
                  <a:cs typeface="JetBrains Mono Bold"/>
                  <a:sym typeface="JetBrains Mono Bold"/>
                </a:rPr>
                <a:t>MOVEMENT</a:t>
              </a:r>
            </a:p>
            <a:p>
              <a:pPr algn="just">
                <a:lnSpc>
                  <a:spcPts val="2956"/>
                </a:lnSpc>
              </a:pPr>
              <a:r>
                <a:rPr lang="en-US" sz="2111" b="true">
                  <a:solidFill>
                    <a:srgbClr val="FFFFFF"/>
                  </a:solidFill>
                  <a:latin typeface="JetBrains Mono Bold"/>
                  <a:ea typeface="JetBrains Mono Bold"/>
                  <a:cs typeface="JetBrains Mono Bold"/>
                  <a:sym typeface="JetBrains Mono Bold"/>
                </a:rPr>
                <a:t>A/D → Horizontal</a:t>
              </a:r>
            </a:p>
            <a:p>
              <a:pPr algn="just">
                <a:lnSpc>
                  <a:spcPts val="2956"/>
                </a:lnSpc>
              </a:pPr>
              <a:r>
                <a:rPr lang="en-US" sz="2111" b="true">
                  <a:solidFill>
                    <a:srgbClr val="FFFFFF"/>
                  </a:solidFill>
                  <a:latin typeface="JetBrains Mono Bold"/>
                  <a:ea typeface="JetBrains Mono Bold"/>
                  <a:cs typeface="JetBrains Mono Bold"/>
                  <a:sym typeface="JetBrains Mono Bold"/>
                </a:rPr>
                <a:t>W → Aim up</a:t>
              </a:r>
            </a:p>
            <a:p>
              <a:pPr algn="just">
                <a:lnSpc>
                  <a:spcPts val="2956"/>
                </a:lnSpc>
              </a:pPr>
              <a:r>
                <a:rPr lang="en-US" sz="2111" b="true">
                  <a:solidFill>
                    <a:srgbClr val="FFFFFF"/>
                  </a:solidFill>
                  <a:latin typeface="JetBrains Mono Bold"/>
                  <a:ea typeface="JetBrains Mono Bold"/>
                  <a:cs typeface="JetBrains Mono Bold"/>
                  <a:sym typeface="JetBrains Mono Bold"/>
                </a:rPr>
                <a:t>Space → Jump</a:t>
              </a:r>
            </a:p>
            <a:p>
              <a:pPr algn="just">
                <a:lnSpc>
                  <a:spcPts val="2956"/>
                </a:lnSpc>
              </a:pPr>
              <a:r>
                <a:rPr lang="en-US" sz="2111" b="true">
                  <a:solidFill>
                    <a:srgbClr val="FFFFFF"/>
                  </a:solidFill>
                  <a:latin typeface="JetBrains Mono Bold"/>
                  <a:ea typeface="JetBrains Mono Bold"/>
                  <a:cs typeface="JetBrains Mono Bold"/>
                  <a:sym typeface="JetBrains Mono Bold"/>
                </a:rPr>
                <a:t>Dash → (ONLY WITH CARD)</a:t>
              </a:r>
            </a:p>
            <a:p>
              <a:pPr algn="just">
                <a:lnSpc>
                  <a:spcPts val="2956"/>
                </a:lnSpc>
              </a:pPr>
              <a:r>
                <a:rPr lang="en-US" sz="2111" b="true">
                  <a:solidFill>
                    <a:srgbClr val="FFFFFF"/>
                  </a:solidFill>
                  <a:latin typeface="JetBrains Mono Bold"/>
                  <a:ea typeface="JetBrains Mono Bold"/>
                  <a:cs typeface="JetBrains Mono Bold"/>
                  <a:sym typeface="JetBrains Mono Bold"/>
                </a:rPr>
                <a:t>Glide → (ONLY WITH CARD)</a:t>
              </a:r>
            </a:p>
            <a:p>
              <a:pPr algn="just">
                <a:lnSpc>
                  <a:spcPts val="2956"/>
                </a:lnSpc>
              </a:pPr>
              <a:r>
                <a:rPr lang="en-US" sz="2111" b="true">
                  <a:solidFill>
                    <a:srgbClr val="FFFFFF"/>
                  </a:solidFill>
                  <a:latin typeface="JetBrains Mono Bold"/>
                  <a:ea typeface="JetBrains Mono Bold"/>
                  <a:cs typeface="JetBrains Mono Bold"/>
                  <a:sym typeface="JetBrains Mono Bold"/>
                </a:rPr>
                <a:t>Attack → I</a:t>
              </a:r>
            </a:p>
            <a:p>
              <a:pPr algn="just">
                <a:lnSpc>
                  <a:spcPts val="2956"/>
                </a:lnSpc>
              </a:pPr>
            </a:p>
            <a:p>
              <a:pPr algn="just" marL="0" indent="0" lvl="0">
                <a:lnSpc>
                  <a:spcPts val="2956"/>
                </a:lnSpc>
                <a:spcBef>
                  <a:spcPct val="0"/>
                </a:spcBef>
              </a:pPr>
            </a:p>
          </p:txBody>
        </p:sp>
        <p:sp>
          <p:nvSpPr>
            <p:cNvPr name="TextBox 11" id="11"/>
            <p:cNvSpPr txBox="true"/>
            <p:nvPr/>
          </p:nvSpPr>
          <p:spPr>
            <a:xfrm rot="0">
              <a:off x="13534716" y="-38100"/>
              <a:ext cx="5588191" cy="3928983"/>
            </a:xfrm>
            <a:prstGeom prst="rect">
              <a:avLst/>
            </a:prstGeom>
          </p:spPr>
          <p:txBody>
            <a:bodyPr anchor="t" rtlCol="false" tIns="0" lIns="0" bIns="0" rIns="0">
              <a:spAutoFit/>
            </a:bodyPr>
            <a:lstStyle/>
            <a:p>
              <a:pPr algn="just">
                <a:lnSpc>
                  <a:spcPts val="2956"/>
                </a:lnSpc>
              </a:pPr>
              <a:r>
                <a:rPr lang="en-US" sz="2111" b="true">
                  <a:solidFill>
                    <a:srgbClr val="FFFFFF"/>
                  </a:solidFill>
                  <a:latin typeface="JetBrains Mono Bold"/>
                  <a:ea typeface="JetBrains Mono Bold"/>
                  <a:cs typeface="JetBrains Mono Bold"/>
                  <a:sym typeface="JetBrains Mono Bold"/>
                </a:rPr>
                <a:t>CARDS</a:t>
              </a:r>
            </a:p>
            <a:p>
              <a:pPr algn="l" marL="455921" indent="-227960" lvl="1">
                <a:lnSpc>
                  <a:spcPts val="2956"/>
                </a:lnSpc>
                <a:buFont typeface="Arial"/>
                <a:buChar char="•"/>
              </a:pPr>
              <a:r>
                <a:rPr lang="en-US" sz="2111">
                  <a:solidFill>
                    <a:srgbClr val="FFFFFF"/>
                  </a:solidFill>
                  <a:latin typeface="JetBrains Mono"/>
                  <a:ea typeface="JetBrains Mono"/>
                  <a:cs typeface="JetBrains Mono"/>
                  <a:sym typeface="JetBrains Mono"/>
                </a:rPr>
                <a:t>3 active slots</a:t>
              </a:r>
            </a:p>
            <a:p>
              <a:pPr algn="l" marL="455921" indent="-227960" lvl="1">
                <a:lnSpc>
                  <a:spcPts val="2956"/>
                </a:lnSpc>
                <a:buFont typeface="Arial"/>
                <a:buChar char="•"/>
              </a:pPr>
              <a:r>
                <a:rPr lang="en-US" sz="2111">
                  <a:solidFill>
                    <a:srgbClr val="FFFFFF"/>
                  </a:solidFill>
                  <a:latin typeface="JetBrains Mono"/>
                  <a:ea typeface="JetBrains Mono"/>
                  <a:cs typeface="JetBrains Mono"/>
                  <a:sym typeface="JetBrains Mono"/>
                </a:rPr>
                <a:t>Burn-and-replace</a:t>
              </a:r>
            </a:p>
            <a:p>
              <a:pPr algn="l" marL="455921" indent="-227960" lvl="1">
                <a:lnSpc>
                  <a:spcPts val="2956"/>
                </a:lnSpc>
                <a:buFont typeface="Arial"/>
                <a:buChar char="•"/>
              </a:pPr>
              <a:r>
                <a:rPr lang="en-US" sz="2111">
                  <a:solidFill>
                    <a:srgbClr val="FFFFFF"/>
                  </a:solidFill>
                  <a:latin typeface="JetBrains Mono"/>
                  <a:ea typeface="JetBrains Mono"/>
                  <a:cs typeface="JetBrains Mono"/>
                  <a:sym typeface="JetBrains Mono"/>
                </a:rPr>
                <a:t>Permanent effects (until burned)</a:t>
              </a:r>
            </a:p>
            <a:p>
              <a:pPr algn="l" marL="455921" indent="-227960" lvl="1">
                <a:lnSpc>
                  <a:spcPts val="2956"/>
                </a:lnSpc>
                <a:buFont typeface="Arial"/>
                <a:buChar char="•"/>
              </a:pPr>
              <a:r>
                <a:rPr lang="en-US" sz="2111">
                  <a:solidFill>
                    <a:srgbClr val="FFFFFF"/>
                  </a:solidFill>
                  <a:latin typeface="JetBrains Mono"/>
                  <a:ea typeface="JetBrains Mono"/>
                  <a:cs typeface="JetBrains Mono"/>
                  <a:sym typeface="JetBrains Mono"/>
                </a:rPr>
                <a:t>Strategy over Reflexes</a:t>
              </a:r>
            </a:p>
            <a:p>
              <a:pPr algn="l">
                <a:lnSpc>
                  <a:spcPts val="2956"/>
                </a:lnSpc>
              </a:pPr>
            </a:p>
            <a:p>
              <a:pPr algn="just" marL="0" indent="0" lvl="0">
                <a:lnSpc>
                  <a:spcPts val="2956"/>
                </a:lnSpc>
                <a:spcBef>
                  <a:spcPct val="0"/>
                </a:spcBef>
              </a:pPr>
            </a:p>
          </p:txBody>
        </p:sp>
      </p:grpSp>
      <p:sp>
        <p:nvSpPr>
          <p:cNvPr name="TextBox 12" id="12"/>
          <p:cNvSpPr txBox="true"/>
          <p:nvPr/>
        </p:nvSpPr>
        <p:spPr>
          <a:xfrm rot="0">
            <a:off x="9582825" y="5954414"/>
            <a:ext cx="5058915" cy="3327737"/>
          </a:xfrm>
          <a:prstGeom prst="rect">
            <a:avLst/>
          </a:prstGeom>
        </p:spPr>
        <p:txBody>
          <a:bodyPr anchor="t" rtlCol="false" tIns="0" lIns="0" bIns="0" rIns="0">
            <a:spAutoFit/>
          </a:bodyPr>
          <a:lstStyle/>
          <a:p>
            <a:pPr algn="just">
              <a:lnSpc>
                <a:spcPts val="2956"/>
              </a:lnSpc>
            </a:pPr>
            <a:r>
              <a:rPr lang="en-US" sz="2111" b="true">
                <a:solidFill>
                  <a:srgbClr val="FFFFFF"/>
                </a:solidFill>
                <a:latin typeface="JetBrains Mono Bold"/>
                <a:ea typeface="JetBrains Mono Bold"/>
                <a:cs typeface="JetBrains Mono Bold"/>
                <a:sym typeface="JetBrains Mono Bold"/>
              </a:rPr>
              <a:t>BOSS SYSTEM (FSM)</a:t>
            </a:r>
          </a:p>
          <a:p>
            <a:pPr algn="just">
              <a:lnSpc>
                <a:spcPts val="2956"/>
              </a:lnSpc>
            </a:pPr>
            <a:r>
              <a:rPr lang="en-US" sz="2111" b="true">
                <a:solidFill>
                  <a:srgbClr val="FFFFFF"/>
                </a:solidFill>
                <a:latin typeface="JetBrains Mono Bold"/>
                <a:ea typeface="JetBrains Mono Bold"/>
                <a:cs typeface="JetBrains Mono Bold"/>
                <a:sym typeface="JetBrains Mono Bold"/>
              </a:rPr>
              <a:t>Finite Stat</a:t>
            </a:r>
            <a:r>
              <a:rPr lang="en-US" sz="2111" b="true">
                <a:solidFill>
                  <a:srgbClr val="FFFFFF"/>
                </a:solidFill>
                <a:latin typeface="JetBrains Mono Bold"/>
                <a:ea typeface="JetBrains Mono Bold"/>
                <a:cs typeface="JetBrains Mono Bold"/>
                <a:sym typeface="JetBrains Mono Bold"/>
              </a:rPr>
              <a:t>e Machine:</a:t>
            </a:r>
          </a:p>
          <a:p>
            <a:pPr algn="l" marL="455921" indent="-227960" lvl="1">
              <a:lnSpc>
                <a:spcPts val="2956"/>
              </a:lnSpc>
              <a:buFont typeface="Arial"/>
              <a:buChar char="•"/>
            </a:pPr>
            <a:r>
              <a:rPr lang="en-US" b="true" sz="2111">
                <a:solidFill>
                  <a:srgbClr val="FFFFFF"/>
                </a:solidFill>
                <a:latin typeface="JetBrains Mono Bold"/>
                <a:ea typeface="JetBrains Mono Bold"/>
                <a:cs typeface="JetBrains Mono Bold"/>
                <a:sym typeface="JetBrains Mono Bold"/>
              </a:rPr>
              <a:t>Idle → Attack → Recovery → Phase 2</a:t>
            </a:r>
          </a:p>
          <a:p>
            <a:pPr algn="l" marL="455921" indent="-227960" lvl="1">
              <a:lnSpc>
                <a:spcPts val="2956"/>
              </a:lnSpc>
              <a:buFont typeface="Arial"/>
              <a:buChar char="•"/>
            </a:pPr>
            <a:r>
              <a:rPr lang="en-US" b="true" sz="2111">
                <a:solidFill>
                  <a:srgbClr val="FFFFFF"/>
                </a:solidFill>
                <a:latin typeface="JetBrains Mono Bold"/>
                <a:ea typeface="JetBrains Mono Bold"/>
                <a:cs typeface="JetBrains Mono Bold"/>
                <a:sym typeface="JetBrains Mono Bold"/>
              </a:rPr>
              <a:t>Learnable patterns, not random</a:t>
            </a:r>
          </a:p>
          <a:p>
            <a:pPr algn="l" marL="455921" indent="-227960" lvl="1">
              <a:lnSpc>
                <a:spcPts val="2956"/>
              </a:lnSpc>
              <a:buFont typeface="Arial"/>
              <a:buChar char="•"/>
            </a:pPr>
            <a:r>
              <a:rPr lang="en-US" b="true" sz="2111">
                <a:solidFill>
                  <a:srgbClr val="FFFFFF"/>
                </a:solidFill>
                <a:latin typeface="JetBrains Mono Bold"/>
                <a:ea typeface="JetBrains Mono Bold"/>
                <a:cs typeface="JetBrains Mono Bold"/>
                <a:sym typeface="JetBrains Mono Bold"/>
              </a:rPr>
              <a:t>Clear vulnerability windows</a:t>
            </a:r>
          </a:p>
          <a:p>
            <a:pPr algn="l" marL="455921" indent="-227960" lvl="1">
              <a:lnSpc>
                <a:spcPts val="2956"/>
              </a:lnSpc>
              <a:buFont typeface="Arial"/>
              <a:buChar char="•"/>
            </a:pPr>
            <a:r>
              <a:rPr lang="en-US" b="true" sz="2111">
                <a:solidFill>
                  <a:srgbClr val="FFFFFF"/>
                </a:solidFill>
                <a:latin typeface="JetBrains Mono Bold"/>
                <a:ea typeface="JetBrains Mono Bold"/>
                <a:cs typeface="JetBrains Mono Bold"/>
                <a:sym typeface="JetBrains Mono Bold"/>
              </a:rPr>
              <a:t>Skill over Luck</a:t>
            </a:r>
          </a:p>
          <a:p>
            <a:pPr algn="just" marL="0" indent="0" lvl="0">
              <a:lnSpc>
                <a:spcPts val="2956"/>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57771" y="484456"/>
            <a:ext cx="915543" cy="4114800"/>
          </a:xfrm>
          <a:custGeom>
            <a:avLst/>
            <a:gdLst/>
            <a:ahLst/>
            <a:cxnLst/>
            <a:rect r="r" b="b" t="t" l="l"/>
            <a:pathLst>
              <a:path h="4114800" w="915543">
                <a:moveTo>
                  <a:pt x="0" y="0"/>
                </a:moveTo>
                <a:lnTo>
                  <a:pt x="915543" y="0"/>
                </a:lnTo>
                <a:lnTo>
                  <a:pt x="91554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400000">
            <a:off x="16138165" y="8110361"/>
            <a:ext cx="1150809" cy="2295877"/>
          </a:xfrm>
          <a:custGeom>
            <a:avLst/>
            <a:gdLst/>
            <a:ahLst/>
            <a:cxnLst/>
            <a:rect r="r" b="b" t="t" l="l"/>
            <a:pathLst>
              <a:path h="2295877" w="1150809">
                <a:moveTo>
                  <a:pt x="0" y="0"/>
                </a:moveTo>
                <a:lnTo>
                  <a:pt x="1150809" y="0"/>
                </a:lnTo>
                <a:lnTo>
                  <a:pt x="1150809" y="2295878"/>
                </a:lnTo>
                <a:lnTo>
                  <a:pt x="0" y="22958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6713569" y="4785310"/>
            <a:ext cx="2616002" cy="1255681"/>
          </a:xfrm>
          <a:custGeom>
            <a:avLst/>
            <a:gdLst/>
            <a:ahLst/>
            <a:cxnLst/>
            <a:rect r="r" b="b" t="t" l="l"/>
            <a:pathLst>
              <a:path h="1255681" w="2616002">
                <a:moveTo>
                  <a:pt x="0" y="0"/>
                </a:moveTo>
                <a:lnTo>
                  <a:pt x="2616002" y="0"/>
                </a:lnTo>
                <a:lnTo>
                  <a:pt x="2616002" y="1255681"/>
                </a:lnTo>
                <a:lnTo>
                  <a:pt x="0" y="12556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961202" y="1680203"/>
            <a:ext cx="1215400" cy="1620534"/>
          </a:xfrm>
          <a:custGeom>
            <a:avLst/>
            <a:gdLst/>
            <a:ahLst/>
            <a:cxnLst/>
            <a:rect r="r" b="b" t="t" l="l"/>
            <a:pathLst>
              <a:path h="1620534" w="1215400">
                <a:moveTo>
                  <a:pt x="0" y="0"/>
                </a:moveTo>
                <a:lnTo>
                  <a:pt x="1215400" y="0"/>
                </a:lnTo>
                <a:lnTo>
                  <a:pt x="1215400" y="1620534"/>
                </a:lnTo>
                <a:lnTo>
                  <a:pt x="0" y="1620534"/>
                </a:lnTo>
                <a:lnTo>
                  <a:pt x="0" y="0"/>
                </a:lnTo>
                <a:close/>
              </a:path>
            </a:pathLst>
          </a:custGeom>
          <a:blipFill>
            <a:blip r:embed="rId8"/>
            <a:stretch>
              <a:fillRect l="0" t="0" r="0" b="0"/>
            </a:stretch>
          </a:blipFill>
        </p:spPr>
      </p:sp>
      <p:sp>
        <p:nvSpPr>
          <p:cNvPr name="Freeform 6" id="6"/>
          <p:cNvSpPr/>
          <p:nvPr/>
        </p:nvSpPr>
        <p:spPr>
          <a:xfrm flipH="false" flipV="false" rot="0">
            <a:off x="1494951" y="3619464"/>
            <a:ext cx="2137201" cy="1423910"/>
          </a:xfrm>
          <a:custGeom>
            <a:avLst/>
            <a:gdLst/>
            <a:ahLst/>
            <a:cxnLst/>
            <a:rect r="r" b="b" t="t" l="l"/>
            <a:pathLst>
              <a:path h="1423910" w="2137201">
                <a:moveTo>
                  <a:pt x="0" y="0"/>
                </a:moveTo>
                <a:lnTo>
                  <a:pt x="2137201" y="0"/>
                </a:lnTo>
                <a:lnTo>
                  <a:pt x="2137201" y="1423910"/>
                </a:lnTo>
                <a:lnTo>
                  <a:pt x="0" y="1423910"/>
                </a:lnTo>
                <a:lnTo>
                  <a:pt x="0" y="0"/>
                </a:lnTo>
                <a:close/>
              </a:path>
            </a:pathLst>
          </a:custGeom>
          <a:blipFill>
            <a:blip r:embed="rId9"/>
            <a:stretch>
              <a:fillRect l="0" t="0" r="0" b="0"/>
            </a:stretch>
          </a:blipFill>
        </p:spPr>
      </p:sp>
      <p:sp>
        <p:nvSpPr>
          <p:cNvPr name="Freeform 7" id="7"/>
          <p:cNvSpPr/>
          <p:nvPr/>
        </p:nvSpPr>
        <p:spPr>
          <a:xfrm flipH="false" flipV="false" rot="0">
            <a:off x="1728460" y="6157640"/>
            <a:ext cx="1983171" cy="1224608"/>
          </a:xfrm>
          <a:custGeom>
            <a:avLst/>
            <a:gdLst/>
            <a:ahLst/>
            <a:cxnLst/>
            <a:rect r="r" b="b" t="t" l="l"/>
            <a:pathLst>
              <a:path h="1224608" w="1983171">
                <a:moveTo>
                  <a:pt x="0" y="0"/>
                </a:moveTo>
                <a:lnTo>
                  <a:pt x="1983172" y="0"/>
                </a:lnTo>
                <a:lnTo>
                  <a:pt x="1983172" y="1224608"/>
                </a:lnTo>
                <a:lnTo>
                  <a:pt x="0" y="1224608"/>
                </a:lnTo>
                <a:lnTo>
                  <a:pt x="0" y="0"/>
                </a:lnTo>
                <a:close/>
              </a:path>
            </a:pathLst>
          </a:custGeom>
          <a:blipFill>
            <a:blip r:embed="rId10"/>
            <a:stretch>
              <a:fillRect l="0" t="0" r="0" b="0"/>
            </a:stretch>
          </a:blipFill>
        </p:spPr>
      </p:sp>
      <p:sp>
        <p:nvSpPr>
          <p:cNvPr name="Freeform 8" id="8"/>
          <p:cNvSpPr/>
          <p:nvPr/>
        </p:nvSpPr>
        <p:spPr>
          <a:xfrm flipH="false" flipV="false" rot="0">
            <a:off x="1821954" y="7972561"/>
            <a:ext cx="1889677" cy="1568432"/>
          </a:xfrm>
          <a:custGeom>
            <a:avLst/>
            <a:gdLst/>
            <a:ahLst/>
            <a:cxnLst/>
            <a:rect r="r" b="b" t="t" l="l"/>
            <a:pathLst>
              <a:path h="1568432" w="1889677">
                <a:moveTo>
                  <a:pt x="0" y="0"/>
                </a:moveTo>
                <a:lnTo>
                  <a:pt x="1889678" y="0"/>
                </a:lnTo>
                <a:lnTo>
                  <a:pt x="1889678" y="1568432"/>
                </a:lnTo>
                <a:lnTo>
                  <a:pt x="0" y="1568432"/>
                </a:lnTo>
                <a:lnTo>
                  <a:pt x="0" y="0"/>
                </a:lnTo>
                <a:close/>
              </a:path>
            </a:pathLst>
          </a:custGeom>
          <a:blipFill>
            <a:blip r:embed="rId11"/>
            <a:stretch>
              <a:fillRect l="0" t="0" r="0" b="0"/>
            </a:stretch>
          </a:blipFill>
        </p:spPr>
      </p:sp>
      <p:sp>
        <p:nvSpPr>
          <p:cNvPr name="TextBox 9" id="9"/>
          <p:cNvSpPr txBox="true"/>
          <p:nvPr/>
        </p:nvSpPr>
        <p:spPr>
          <a:xfrm rot="0">
            <a:off x="2012485" y="697462"/>
            <a:ext cx="6344271" cy="606425"/>
          </a:xfrm>
          <a:prstGeom prst="rect">
            <a:avLst/>
          </a:prstGeom>
        </p:spPr>
        <p:txBody>
          <a:bodyPr anchor="t" rtlCol="false" tIns="0" lIns="0" bIns="0" rIns="0">
            <a:spAutoFit/>
          </a:bodyPr>
          <a:lstStyle/>
          <a:p>
            <a:pPr algn="l">
              <a:lnSpc>
                <a:spcPts val="4900"/>
              </a:lnSpc>
            </a:pPr>
            <a:r>
              <a:rPr lang="en-US" sz="3500">
                <a:solidFill>
                  <a:srgbClr val="FFFFFF"/>
                </a:solidFill>
                <a:latin typeface="Press Start 2P"/>
                <a:ea typeface="Press Start 2P"/>
                <a:cs typeface="Press Start 2P"/>
                <a:sym typeface="Press Start 2P"/>
              </a:rPr>
              <a:t>ENEMY TYPES</a:t>
            </a:r>
          </a:p>
        </p:txBody>
      </p:sp>
      <p:sp>
        <p:nvSpPr>
          <p:cNvPr name="TextBox 10" id="10"/>
          <p:cNvSpPr txBox="true"/>
          <p:nvPr/>
        </p:nvSpPr>
        <p:spPr>
          <a:xfrm rot="0">
            <a:off x="8124835" y="2154068"/>
            <a:ext cx="9134465" cy="1098887"/>
          </a:xfrm>
          <a:prstGeom prst="rect">
            <a:avLst/>
          </a:prstGeom>
        </p:spPr>
        <p:txBody>
          <a:bodyPr anchor="t" rtlCol="false" tIns="0" lIns="0" bIns="0" rIns="0">
            <a:spAutoFit/>
          </a:bodyPr>
          <a:lstStyle/>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Agressive (least aggressive)</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Collectible with tongue</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In game currency</a:t>
            </a:r>
          </a:p>
        </p:txBody>
      </p:sp>
      <p:sp>
        <p:nvSpPr>
          <p:cNvPr name="TextBox 11" id="11"/>
          <p:cNvSpPr txBox="true"/>
          <p:nvPr/>
        </p:nvSpPr>
        <p:spPr>
          <a:xfrm rot="0">
            <a:off x="3557602" y="2423795"/>
            <a:ext cx="4186539" cy="530859"/>
          </a:xfrm>
          <a:prstGeom prst="rect">
            <a:avLst/>
          </a:prstGeom>
        </p:spPr>
        <p:txBody>
          <a:bodyPr anchor="t" rtlCol="false" tIns="0" lIns="0" bIns="0" rIns="0">
            <a:spAutoFit/>
          </a:bodyPr>
          <a:lstStyle/>
          <a:p>
            <a:pPr algn="ctr" marL="0" indent="0" lvl="0">
              <a:lnSpc>
                <a:spcPts val="4340"/>
              </a:lnSpc>
              <a:spcBef>
                <a:spcPct val="0"/>
              </a:spcBef>
            </a:pPr>
            <a:r>
              <a:rPr lang="en-US" sz="3100">
                <a:solidFill>
                  <a:srgbClr val="C1FF72"/>
                </a:solidFill>
                <a:latin typeface="Press Start 2P"/>
                <a:ea typeface="Press Start 2P"/>
                <a:cs typeface="Press Start 2P"/>
                <a:sym typeface="Press Start 2P"/>
              </a:rPr>
              <a:t>mosquitoes</a:t>
            </a:r>
          </a:p>
        </p:txBody>
      </p:sp>
      <p:sp>
        <p:nvSpPr>
          <p:cNvPr name="TextBox 12" id="12"/>
          <p:cNvSpPr txBox="true"/>
          <p:nvPr/>
        </p:nvSpPr>
        <p:spPr>
          <a:xfrm rot="0">
            <a:off x="8045355" y="3944487"/>
            <a:ext cx="9134465" cy="1098887"/>
          </a:xfrm>
          <a:prstGeom prst="rect">
            <a:avLst/>
          </a:prstGeom>
        </p:spPr>
        <p:txBody>
          <a:bodyPr anchor="t" rtlCol="false" tIns="0" lIns="0" bIns="0" rIns="0">
            <a:spAutoFit/>
          </a:bodyPr>
          <a:lstStyle/>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Agressive</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Patrol platforms</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Active obstacles</a:t>
            </a:r>
          </a:p>
        </p:txBody>
      </p:sp>
      <p:sp>
        <p:nvSpPr>
          <p:cNvPr name="TextBox 13" id="13"/>
          <p:cNvSpPr txBox="true"/>
          <p:nvPr/>
        </p:nvSpPr>
        <p:spPr>
          <a:xfrm rot="0">
            <a:off x="3478122" y="4214214"/>
            <a:ext cx="4186539" cy="530859"/>
          </a:xfrm>
          <a:prstGeom prst="rect">
            <a:avLst/>
          </a:prstGeom>
        </p:spPr>
        <p:txBody>
          <a:bodyPr anchor="t" rtlCol="false" tIns="0" lIns="0" bIns="0" rIns="0">
            <a:spAutoFit/>
          </a:bodyPr>
          <a:lstStyle/>
          <a:p>
            <a:pPr algn="ctr" marL="0" indent="0" lvl="0">
              <a:lnSpc>
                <a:spcPts val="4340"/>
              </a:lnSpc>
              <a:spcBef>
                <a:spcPct val="0"/>
              </a:spcBef>
            </a:pPr>
            <a:r>
              <a:rPr lang="en-US" sz="3100">
                <a:solidFill>
                  <a:srgbClr val="C1FF72"/>
                </a:solidFill>
                <a:latin typeface="Press Start 2P"/>
                <a:ea typeface="Press Start 2P"/>
                <a:cs typeface="Press Start 2P"/>
                <a:sym typeface="Press Start 2P"/>
              </a:rPr>
              <a:t>spiders</a:t>
            </a:r>
          </a:p>
        </p:txBody>
      </p:sp>
      <p:sp>
        <p:nvSpPr>
          <p:cNvPr name="TextBox 14" id="14"/>
          <p:cNvSpPr txBox="true"/>
          <p:nvPr/>
        </p:nvSpPr>
        <p:spPr>
          <a:xfrm rot="0">
            <a:off x="8124835" y="5911886"/>
            <a:ext cx="9134465" cy="1470362"/>
          </a:xfrm>
          <a:prstGeom prst="rect">
            <a:avLst/>
          </a:prstGeom>
        </p:spPr>
        <p:txBody>
          <a:bodyPr anchor="t" rtlCol="false" tIns="0" lIns="0" bIns="0" rIns="0">
            <a:spAutoFit/>
          </a:bodyPr>
          <a:lstStyle/>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Simple, predictable pattern</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Long recovery windows</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Teaches combat fundamentals</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HP: medium, Damage: medium</a:t>
            </a:r>
          </a:p>
        </p:txBody>
      </p:sp>
      <p:sp>
        <p:nvSpPr>
          <p:cNvPr name="TextBox 15" id="15"/>
          <p:cNvSpPr txBox="true"/>
          <p:nvPr/>
        </p:nvSpPr>
        <p:spPr>
          <a:xfrm rot="0">
            <a:off x="3557602" y="6181613"/>
            <a:ext cx="4186539" cy="1073784"/>
          </a:xfrm>
          <a:prstGeom prst="rect">
            <a:avLst/>
          </a:prstGeom>
        </p:spPr>
        <p:txBody>
          <a:bodyPr anchor="t" rtlCol="false" tIns="0" lIns="0" bIns="0" rIns="0">
            <a:spAutoFit/>
          </a:bodyPr>
          <a:lstStyle/>
          <a:p>
            <a:pPr algn="ctr">
              <a:lnSpc>
                <a:spcPts val="4340"/>
              </a:lnSpc>
            </a:pPr>
            <a:r>
              <a:rPr lang="en-US" sz="3100">
                <a:solidFill>
                  <a:srgbClr val="C1FF72"/>
                </a:solidFill>
                <a:latin typeface="Press Start 2P"/>
                <a:ea typeface="Press Start 2P"/>
                <a:cs typeface="Press Start 2P"/>
                <a:sym typeface="Press Start 2P"/>
              </a:rPr>
              <a:t>snake </a:t>
            </a:r>
          </a:p>
          <a:p>
            <a:pPr algn="ctr" marL="0" indent="0" lvl="0">
              <a:lnSpc>
                <a:spcPts val="4340"/>
              </a:lnSpc>
              <a:spcBef>
                <a:spcPct val="0"/>
              </a:spcBef>
            </a:pPr>
            <a:r>
              <a:rPr lang="en-US" sz="3100">
                <a:solidFill>
                  <a:srgbClr val="C1FF72"/>
                </a:solidFill>
                <a:latin typeface="Press Start 2P"/>
                <a:ea typeface="Press Start 2P"/>
                <a:cs typeface="Press Start 2P"/>
                <a:sym typeface="Press Start 2P"/>
              </a:rPr>
              <a:t>(boss 1)</a:t>
            </a:r>
          </a:p>
        </p:txBody>
      </p:sp>
      <p:sp>
        <p:nvSpPr>
          <p:cNvPr name="TextBox 16" id="16"/>
          <p:cNvSpPr txBox="true"/>
          <p:nvPr/>
        </p:nvSpPr>
        <p:spPr>
          <a:xfrm rot="0">
            <a:off x="8124835" y="7916821"/>
            <a:ext cx="9134465" cy="1470362"/>
          </a:xfrm>
          <a:prstGeom prst="rect">
            <a:avLst/>
          </a:prstGeom>
        </p:spPr>
        <p:txBody>
          <a:bodyPr anchor="t" rtlCol="false" tIns="0" lIns="0" bIns="0" rIns="0">
            <a:spAutoFit/>
          </a:bodyPr>
          <a:lstStyle/>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Fast, aggressive attacks</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Short vulnerability windows</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Phase 2 at 25% HP</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Final boss</a:t>
            </a:r>
          </a:p>
        </p:txBody>
      </p:sp>
      <p:sp>
        <p:nvSpPr>
          <p:cNvPr name="TextBox 17" id="17"/>
          <p:cNvSpPr txBox="true"/>
          <p:nvPr/>
        </p:nvSpPr>
        <p:spPr>
          <a:xfrm rot="0">
            <a:off x="3557602" y="8186548"/>
            <a:ext cx="4186539" cy="1073784"/>
          </a:xfrm>
          <a:prstGeom prst="rect">
            <a:avLst/>
          </a:prstGeom>
        </p:spPr>
        <p:txBody>
          <a:bodyPr anchor="t" rtlCol="false" tIns="0" lIns="0" bIns="0" rIns="0">
            <a:spAutoFit/>
          </a:bodyPr>
          <a:lstStyle/>
          <a:p>
            <a:pPr algn="ctr">
              <a:lnSpc>
                <a:spcPts val="4340"/>
              </a:lnSpc>
            </a:pPr>
            <a:r>
              <a:rPr lang="en-US" sz="3100">
                <a:solidFill>
                  <a:srgbClr val="C1FF72"/>
                </a:solidFill>
                <a:latin typeface="Press Start 2P"/>
                <a:ea typeface="Press Start 2P"/>
                <a:cs typeface="Press Start 2P"/>
                <a:sym typeface="Press Start 2P"/>
              </a:rPr>
              <a:t>hawk</a:t>
            </a:r>
          </a:p>
          <a:p>
            <a:pPr algn="ctr" marL="0" indent="0" lvl="0">
              <a:lnSpc>
                <a:spcPts val="4340"/>
              </a:lnSpc>
              <a:spcBef>
                <a:spcPct val="0"/>
              </a:spcBef>
            </a:pPr>
            <a:r>
              <a:rPr lang="en-US" sz="3100">
                <a:solidFill>
                  <a:srgbClr val="C1FF72"/>
                </a:solidFill>
                <a:latin typeface="Press Start 2P"/>
                <a:ea typeface="Press Start 2P"/>
                <a:cs typeface="Press Start 2P"/>
                <a:sym typeface="Press Start 2P"/>
              </a:rPr>
              <a:t>(boss 2)</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57771" y="484456"/>
            <a:ext cx="915543" cy="4114800"/>
          </a:xfrm>
          <a:custGeom>
            <a:avLst/>
            <a:gdLst/>
            <a:ahLst/>
            <a:cxnLst/>
            <a:rect r="r" b="b" t="t" l="l"/>
            <a:pathLst>
              <a:path h="4114800" w="915543">
                <a:moveTo>
                  <a:pt x="0" y="0"/>
                </a:moveTo>
                <a:lnTo>
                  <a:pt x="915543" y="0"/>
                </a:lnTo>
                <a:lnTo>
                  <a:pt x="91554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400000">
            <a:off x="16138165" y="8110361"/>
            <a:ext cx="1150809" cy="2295877"/>
          </a:xfrm>
          <a:custGeom>
            <a:avLst/>
            <a:gdLst/>
            <a:ahLst/>
            <a:cxnLst/>
            <a:rect r="r" b="b" t="t" l="l"/>
            <a:pathLst>
              <a:path h="2295877" w="1150809">
                <a:moveTo>
                  <a:pt x="0" y="0"/>
                </a:moveTo>
                <a:lnTo>
                  <a:pt x="1150809" y="0"/>
                </a:lnTo>
                <a:lnTo>
                  <a:pt x="1150809" y="2295878"/>
                </a:lnTo>
                <a:lnTo>
                  <a:pt x="0" y="22958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6713569" y="4785310"/>
            <a:ext cx="2616002" cy="1255681"/>
          </a:xfrm>
          <a:custGeom>
            <a:avLst/>
            <a:gdLst/>
            <a:ahLst/>
            <a:cxnLst/>
            <a:rect r="r" b="b" t="t" l="l"/>
            <a:pathLst>
              <a:path h="1255681" w="2616002">
                <a:moveTo>
                  <a:pt x="0" y="0"/>
                </a:moveTo>
                <a:lnTo>
                  <a:pt x="2616002" y="0"/>
                </a:lnTo>
                <a:lnTo>
                  <a:pt x="2616002" y="1255681"/>
                </a:lnTo>
                <a:lnTo>
                  <a:pt x="0" y="12556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4499705" y="952500"/>
            <a:ext cx="9288591" cy="606425"/>
          </a:xfrm>
          <a:prstGeom prst="rect">
            <a:avLst/>
          </a:prstGeom>
        </p:spPr>
        <p:txBody>
          <a:bodyPr anchor="t" rtlCol="false" tIns="0" lIns="0" bIns="0" rIns="0">
            <a:spAutoFit/>
          </a:bodyPr>
          <a:lstStyle/>
          <a:p>
            <a:pPr algn="ctr">
              <a:lnSpc>
                <a:spcPts val="4900"/>
              </a:lnSpc>
            </a:pPr>
            <a:r>
              <a:rPr lang="en-US" sz="3500">
                <a:solidFill>
                  <a:srgbClr val="FFFFFF"/>
                </a:solidFill>
                <a:latin typeface="Press Start 2P"/>
                <a:ea typeface="Press Start 2P"/>
                <a:cs typeface="Press Start 2P"/>
                <a:sym typeface="Press Start 2P"/>
              </a:rPr>
              <a:t>ROGUELITE ELEMENTS</a:t>
            </a:r>
          </a:p>
        </p:txBody>
      </p:sp>
      <p:sp>
        <p:nvSpPr>
          <p:cNvPr name="TextBox 6" id="6"/>
          <p:cNvSpPr txBox="true"/>
          <p:nvPr/>
        </p:nvSpPr>
        <p:spPr>
          <a:xfrm rot="0">
            <a:off x="2849846" y="4063513"/>
            <a:ext cx="13332132" cy="2693489"/>
          </a:xfrm>
          <a:prstGeom prst="rect">
            <a:avLst/>
          </a:prstGeom>
        </p:spPr>
        <p:txBody>
          <a:bodyPr anchor="t" rtlCol="false" tIns="0" lIns="0" bIns="0" rIns="0">
            <a:spAutoFit/>
          </a:bodyPr>
          <a:lstStyle/>
          <a:p>
            <a:pPr algn="l" marL="665432" indent="-332716" lvl="1">
              <a:lnSpc>
                <a:spcPts val="4314"/>
              </a:lnSpc>
              <a:buAutoNum type="arabicPeriod" startAt="1"/>
            </a:pPr>
            <a:r>
              <a:rPr lang="en-US" sz="3082">
                <a:solidFill>
                  <a:srgbClr val="FFFFFF"/>
                </a:solidFill>
                <a:latin typeface="JetBrains Mono"/>
                <a:ea typeface="JetBrains Mono"/>
                <a:cs typeface="JetBrains Mono"/>
                <a:sym typeface="JetBrains Mono"/>
              </a:rPr>
              <a:t>Run</a:t>
            </a:r>
          </a:p>
          <a:p>
            <a:pPr algn="l" marL="665432" indent="-332716" lvl="1">
              <a:lnSpc>
                <a:spcPts val="4314"/>
              </a:lnSpc>
              <a:buAutoNum type="arabicPeriod" startAt="1"/>
            </a:pPr>
            <a:r>
              <a:rPr lang="en-US" sz="3082">
                <a:solidFill>
                  <a:srgbClr val="FFFFFF"/>
                </a:solidFill>
                <a:latin typeface="JetBrains Mono"/>
                <a:ea typeface="JetBrains Mono"/>
                <a:cs typeface="JetBrains Mono"/>
                <a:sym typeface="JetBrains Mono"/>
              </a:rPr>
              <a:t>Dfeat/Death</a:t>
            </a:r>
          </a:p>
          <a:p>
            <a:pPr algn="l" marL="665432" indent="-332716" lvl="1">
              <a:lnSpc>
                <a:spcPts val="4314"/>
              </a:lnSpc>
              <a:buAutoNum type="arabicPeriod" startAt="1"/>
            </a:pPr>
            <a:r>
              <a:rPr lang="en-US" sz="3082">
                <a:solidFill>
                  <a:srgbClr val="FFFFFF"/>
                </a:solidFill>
                <a:latin typeface="JetBrains Mono"/>
                <a:ea typeface="JetBrains Mono"/>
                <a:cs typeface="JetBrains Mono"/>
                <a:sym typeface="JetBrains Mono"/>
              </a:rPr>
              <a:t>Reward (Mosquitoes)</a:t>
            </a:r>
          </a:p>
          <a:p>
            <a:pPr algn="l" marL="665432" indent="-332716" lvl="1">
              <a:lnSpc>
                <a:spcPts val="4314"/>
              </a:lnSpc>
              <a:buAutoNum type="arabicPeriod" startAt="1"/>
            </a:pPr>
            <a:r>
              <a:rPr lang="en-US" sz="3082">
                <a:solidFill>
                  <a:srgbClr val="FFFFFF"/>
                </a:solidFill>
                <a:latin typeface="JetBrains Mono"/>
                <a:ea typeface="JetBrains Mono"/>
                <a:cs typeface="JetBrains Mono"/>
                <a:sym typeface="JetBrains Mono"/>
              </a:rPr>
              <a:t>Permanent Upgrade (Cards)</a:t>
            </a:r>
          </a:p>
          <a:p>
            <a:pPr algn="just" marL="665432" indent="-332716" lvl="1">
              <a:lnSpc>
                <a:spcPts val="4314"/>
              </a:lnSpc>
              <a:buAutoNum type="arabicPeriod" startAt="1"/>
            </a:pPr>
            <a:r>
              <a:rPr lang="en-US" sz="3082">
                <a:solidFill>
                  <a:srgbClr val="FFFFFF"/>
                </a:solidFill>
                <a:latin typeface="JetBrains Mono"/>
                <a:ea typeface="JetBrains Mono"/>
                <a:cs typeface="JetBrains Mono"/>
                <a:sym typeface="JetBrains Mono"/>
              </a:rPr>
              <a:t>New Run Stronger</a:t>
            </a:r>
          </a:p>
        </p:txBody>
      </p:sp>
      <p:sp>
        <p:nvSpPr>
          <p:cNvPr name="Freeform 7" id="7"/>
          <p:cNvSpPr/>
          <p:nvPr/>
        </p:nvSpPr>
        <p:spPr>
          <a:xfrm flipH="false" flipV="false" rot="0">
            <a:off x="1672543" y="2541856"/>
            <a:ext cx="874499" cy="807719"/>
          </a:xfrm>
          <a:custGeom>
            <a:avLst/>
            <a:gdLst/>
            <a:ahLst/>
            <a:cxnLst/>
            <a:rect r="r" b="b" t="t" l="l"/>
            <a:pathLst>
              <a:path h="807719" w="874499">
                <a:moveTo>
                  <a:pt x="0" y="0"/>
                </a:moveTo>
                <a:lnTo>
                  <a:pt x="874499" y="0"/>
                </a:lnTo>
                <a:lnTo>
                  <a:pt x="874499" y="807719"/>
                </a:lnTo>
                <a:lnTo>
                  <a:pt x="0" y="8077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302558">
            <a:off x="9185066" y="4047936"/>
            <a:ext cx="7086038" cy="1398843"/>
          </a:xfrm>
          <a:prstGeom prst="rect">
            <a:avLst/>
          </a:prstGeom>
        </p:spPr>
        <p:txBody>
          <a:bodyPr anchor="t" rtlCol="false" tIns="0" lIns="0" bIns="0" rIns="0">
            <a:spAutoFit/>
          </a:bodyPr>
          <a:lstStyle/>
          <a:p>
            <a:pPr algn="ctr" marL="0" indent="0" lvl="0">
              <a:lnSpc>
                <a:spcPts val="5629"/>
              </a:lnSpc>
              <a:spcBef>
                <a:spcPct val="0"/>
              </a:spcBef>
            </a:pPr>
            <a:r>
              <a:rPr lang="en-US" sz="4021">
                <a:solidFill>
                  <a:srgbClr val="C1FF72"/>
                </a:solidFill>
                <a:latin typeface="Press Start 2P"/>
                <a:ea typeface="Press Start 2P"/>
                <a:cs typeface="Press Start 2P"/>
                <a:sym typeface="Press Start 2P"/>
              </a:rPr>
              <a:t>“FAILURE IS PROGRESS”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57771" y="484456"/>
            <a:ext cx="915543" cy="4114800"/>
          </a:xfrm>
          <a:custGeom>
            <a:avLst/>
            <a:gdLst/>
            <a:ahLst/>
            <a:cxnLst/>
            <a:rect r="r" b="b" t="t" l="l"/>
            <a:pathLst>
              <a:path h="4114800" w="915543">
                <a:moveTo>
                  <a:pt x="0" y="0"/>
                </a:moveTo>
                <a:lnTo>
                  <a:pt x="915543" y="0"/>
                </a:lnTo>
                <a:lnTo>
                  <a:pt x="91554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400000">
            <a:off x="16138165" y="8110361"/>
            <a:ext cx="1150809" cy="2295877"/>
          </a:xfrm>
          <a:custGeom>
            <a:avLst/>
            <a:gdLst/>
            <a:ahLst/>
            <a:cxnLst/>
            <a:rect r="r" b="b" t="t" l="l"/>
            <a:pathLst>
              <a:path h="2295877" w="1150809">
                <a:moveTo>
                  <a:pt x="0" y="0"/>
                </a:moveTo>
                <a:lnTo>
                  <a:pt x="1150809" y="0"/>
                </a:lnTo>
                <a:lnTo>
                  <a:pt x="1150809" y="2295878"/>
                </a:lnTo>
                <a:lnTo>
                  <a:pt x="0" y="22958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285297" y="8479082"/>
            <a:ext cx="1093342" cy="1093342"/>
          </a:xfrm>
          <a:custGeom>
            <a:avLst/>
            <a:gdLst/>
            <a:ahLst/>
            <a:cxnLst/>
            <a:rect r="r" b="b" t="t" l="l"/>
            <a:pathLst>
              <a:path h="1093342" w="1093342">
                <a:moveTo>
                  <a:pt x="0" y="0"/>
                </a:moveTo>
                <a:lnTo>
                  <a:pt x="1093341" y="0"/>
                </a:lnTo>
                <a:lnTo>
                  <a:pt x="1093341" y="1093342"/>
                </a:lnTo>
                <a:lnTo>
                  <a:pt x="0" y="10933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16713569" y="4785310"/>
            <a:ext cx="2616002" cy="1255681"/>
          </a:xfrm>
          <a:custGeom>
            <a:avLst/>
            <a:gdLst/>
            <a:ahLst/>
            <a:cxnLst/>
            <a:rect r="r" b="b" t="t" l="l"/>
            <a:pathLst>
              <a:path h="1255681" w="2616002">
                <a:moveTo>
                  <a:pt x="0" y="0"/>
                </a:moveTo>
                <a:lnTo>
                  <a:pt x="2616002" y="0"/>
                </a:lnTo>
                <a:lnTo>
                  <a:pt x="2616002" y="1255681"/>
                </a:lnTo>
                <a:lnTo>
                  <a:pt x="0" y="12556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1831967" y="2985850"/>
            <a:ext cx="4407552" cy="4315300"/>
            <a:chOff x="0" y="0"/>
            <a:chExt cx="1367203" cy="1338587"/>
          </a:xfrm>
        </p:grpSpPr>
        <p:sp>
          <p:nvSpPr>
            <p:cNvPr name="Freeform 7" id="7"/>
            <p:cNvSpPr/>
            <p:nvPr/>
          </p:nvSpPr>
          <p:spPr>
            <a:xfrm flipH="false" flipV="false" rot="0">
              <a:off x="0" y="0"/>
              <a:ext cx="1367203" cy="1338587"/>
            </a:xfrm>
            <a:custGeom>
              <a:avLst/>
              <a:gdLst/>
              <a:ahLst/>
              <a:cxnLst/>
              <a:rect r="r" b="b" t="t" l="l"/>
              <a:pathLst>
                <a:path h="1338587" w="1367203">
                  <a:moveTo>
                    <a:pt x="0" y="0"/>
                  </a:moveTo>
                  <a:lnTo>
                    <a:pt x="1367203" y="0"/>
                  </a:lnTo>
                  <a:lnTo>
                    <a:pt x="1367203" y="1338587"/>
                  </a:lnTo>
                  <a:lnTo>
                    <a:pt x="0" y="1338587"/>
                  </a:lnTo>
                  <a:close/>
                </a:path>
              </a:pathLst>
            </a:custGeom>
            <a:solidFill>
              <a:srgbClr val="8CFF9B"/>
            </a:solidFill>
          </p:spPr>
        </p:sp>
        <p:sp>
          <p:nvSpPr>
            <p:cNvPr name="TextBox 8" id="8"/>
            <p:cNvSpPr txBox="true"/>
            <p:nvPr/>
          </p:nvSpPr>
          <p:spPr>
            <a:xfrm>
              <a:off x="0" y="-47625"/>
              <a:ext cx="1367203" cy="1386212"/>
            </a:xfrm>
            <a:prstGeom prst="rect">
              <a:avLst/>
            </a:prstGeom>
          </p:spPr>
          <p:txBody>
            <a:bodyPr anchor="ctr" rtlCol="false" tIns="50800" lIns="50800" bIns="50800" rIns="50800"/>
            <a:lstStyle/>
            <a:p>
              <a:pPr algn="ctr">
                <a:lnSpc>
                  <a:spcPts val="3359"/>
                </a:lnSpc>
              </a:pPr>
              <a:r>
                <a:rPr lang="en-US" sz="2400" b="true">
                  <a:solidFill>
                    <a:srgbClr val="000000"/>
                  </a:solidFill>
                  <a:latin typeface="JetBrains Mono Bold"/>
                  <a:ea typeface="JetBrains Mono Bold"/>
                  <a:cs typeface="JetBrains Mono Bold"/>
                  <a:sym typeface="JetBrains Mono Bold"/>
                </a:rPr>
                <a:t>MOVEMENT</a:t>
              </a:r>
            </a:p>
            <a:p>
              <a:pPr algn="ctr">
                <a:lnSpc>
                  <a:spcPts val="2956"/>
                </a:lnSpc>
              </a:pPr>
            </a:p>
            <a:p>
              <a:pPr algn="ctr">
                <a:lnSpc>
                  <a:spcPts val="2800"/>
                </a:lnSpc>
              </a:pPr>
              <a:r>
                <a:rPr lang="en-US" sz="2000" b="true">
                  <a:solidFill>
                    <a:srgbClr val="000000"/>
                  </a:solidFill>
                  <a:latin typeface="JetBrains Mono Bold"/>
                  <a:ea typeface="JetBrains Mono Bold"/>
                  <a:cs typeface="JetBrains Mono Bold"/>
                  <a:sym typeface="JetBrains Mono Bold"/>
                </a:rPr>
                <a:t>Mobility and traversal abilities</a:t>
              </a:r>
            </a:p>
            <a:p>
              <a:pPr algn="ctr">
                <a:lnSpc>
                  <a:spcPts val="2800"/>
                </a:lnSpc>
              </a:pPr>
            </a:p>
            <a:p>
              <a:pPr algn="ctr">
                <a:lnSpc>
                  <a:spcPts val="2800"/>
                </a:lnSpc>
              </a:pPr>
              <a:r>
                <a:rPr lang="en-US" b="true" sz="2000">
                  <a:solidFill>
                    <a:srgbClr val="000000"/>
                  </a:solidFill>
                  <a:latin typeface="JetBrains Mono Bold"/>
                  <a:ea typeface="JetBrains Mono Bold"/>
                  <a:cs typeface="JetBrains Mono Bold"/>
                  <a:sym typeface="JetBrains Mono Bold"/>
                </a:rPr>
                <a:t>Iron Hindlegs</a:t>
              </a:r>
            </a:p>
            <a:p>
              <a:pPr algn="ctr">
                <a:lnSpc>
                  <a:spcPts val="2800"/>
                </a:lnSpc>
              </a:pPr>
              <a:r>
                <a:rPr lang="en-US" b="true" sz="2000">
                  <a:solidFill>
                    <a:srgbClr val="000000"/>
                  </a:solidFill>
                  <a:latin typeface="JetBrains Mono Bold"/>
                  <a:ea typeface="JetBrains Mono Bold"/>
                  <a:cs typeface="JetBrains Mono Bold"/>
                  <a:sym typeface="JetBrains Mono Bold"/>
                </a:rPr>
                <a:t>Dragonfly Hop</a:t>
              </a:r>
            </a:p>
            <a:p>
              <a:pPr algn="ctr">
                <a:lnSpc>
                  <a:spcPts val="2800"/>
                </a:lnSpc>
              </a:pPr>
              <a:r>
                <a:rPr lang="en-US" b="true" sz="2000">
                  <a:solidFill>
                    <a:srgbClr val="000000"/>
                  </a:solidFill>
                  <a:latin typeface="JetBrains Mono Bold"/>
                  <a:ea typeface="JetBrains Mono Bold"/>
                  <a:cs typeface="JetBrains Mono Bold"/>
                  <a:sym typeface="JetBrains Mono Bold"/>
                </a:rPr>
                <a:t>Glide Membrane</a:t>
              </a:r>
            </a:p>
            <a:p>
              <a:pPr algn="ctr">
                <a:lnSpc>
                  <a:spcPts val="2800"/>
                </a:lnSpc>
              </a:pPr>
              <a:r>
                <a:rPr lang="en-US" b="true" sz="2000">
                  <a:solidFill>
                    <a:srgbClr val="000000"/>
                  </a:solidFill>
                  <a:latin typeface="JetBrains Mono Bold"/>
                  <a:ea typeface="JetBrains Mono Bold"/>
                  <a:cs typeface="JetBrains Mono Bold"/>
                  <a:sym typeface="JetBrains Mono Bold"/>
                </a:rPr>
                <a:t>Bubble Dash</a:t>
              </a:r>
            </a:p>
            <a:p>
              <a:pPr algn="ctr">
                <a:lnSpc>
                  <a:spcPts val="2800"/>
                </a:lnSpc>
              </a:pPr>
              <a:r>
                <a:rPr lang="en-US" b="true" sz="2000">
                  <a:solidFill>
                    <a:srgbClr val="000000"/>
                  </a:solidFill>
                  <a:latin typeface="JetBrains Mono Bold"/>
                  <a:ea typeface="JetBrains Mono Bold"/>
                  <a:cs typeface="JetBrains Mono Bold"/>
                  <a:sym typeface="JetBrains Mono Bold"/>
                </a:rPr>
                <a:t>Rocket Frog</a:t>
              </a:r>
            </a:p>
            <a:p>
              <a:pPr algn="ctr">
                <a:lnSpc>
                  <a:spcPts val="2800"/>
                </a:lnSpc>
              </a:pPr>
            </a:p>
          </p:txBody>
        </p:sp>
      </p:grpSp>
      <p:sp>
        <p:nvSpPr>
          <p:cNvPr name="TextBox 9" id="9"/>
          <p:cNvSpPr txBox="true"/>
          <p:nvPr/>
        </p:nvSpPr>
        <p:spPr>
          <a:xfrm rot="0">
            <a:off x="1028700" y="725246"/>
            <a:ext cx="16194588" cy="695383"/>
          </a:xfrm>
          <a:prstGeom prst="rect">
            <a:avLst/>
          </a:prstGeom>
        </p:spPr>
        <p:txBody>
          <a:bodyPr anchor="t" rtlCol="false" tIns="0" lIns="0" bIns="0" rIns="0">
            <a:spAutoFit/>
          </a:bodyPr>
          <a:lstStyle/>
          <a:p>
            <a:pPr algn="ctr" marL="0" indent="0" lvl="0">
              <a:lnSpc>
                <a:spcPts val="5771"/>
              </a:lnSpc>
              <a:spcBef>
                <a:spcPct val="0"/>
              </a:spcBef>
            </a:pPr>
            <a:r>
              <a:rPr lang="en-US" sz="4122">
                <a:solidFill>
                  <a:srgbClr val="FFFFFF"/>
                </a:solidFill>
                <a:latin typeface="Press Start 2P"/>
                <a:ea typeface="Press Start 2P"/>
                <a:cs typeface="Press Start 2P"/>
                <a:sym typeface="Press Start 2P"/>
              </a:rPr>
              <a:t>TCG ELEMENTS</a:t>
            </a:r>
          </a:p>
        </p:txBody>
      </p:sp>
      <p:sp>
        <p:nvSpPr>
          <p:cNvPr name="TextBox 10" id="10"/>
          <p:cNvSpPr txBox="true"/>
          <p:nvPr/>
        </p:nvSpPr>
        <p:spPr>
          <a:xfrm rot="0">
            <a:off x="5959165" y="1978294"/>
            <a:ext cx="6333658" cy="563562"/>
          </a:xfrm>
          <a:prstGeom prst="rect">
            <a:avLst/>
          </a:prstGeom>
        </p:spPr>
        <p:txBody>
          <a:bodyPr anchor="t" rtlCol="false" tIns="0" lIns="0" bIns="0" rIns="0">
            <a:spAutoFit/>
          </a:bodyPr>
          <a:lstStyle/>
          <a:p>
            <a:pPr algn="ctr">
              <a:lnSpc>
                <a:spcPts val="4637"/>
              </a:lnSpc>
              <a:spcBef>
                <a:spcPct val="0"/>
              </a:spcBef>
            </a:pPr>
            <a:r>
              <a:rPr lang="en-US" b="true" sz="3312">
                <a:solidFill>
                  <a:srgbClr val="FFFFFF"/>
                </a:solidFill>
                <a:latin typeface="JetBrains Mono Bold"/>
                <a:ea typeface="JetBrains Mono Bold"/>
                <a:cs typeface="JetBrains Mono Bold"/>
                <a:sym typeface="JetBrains Mono Bold"/>
              </a:rPr>
              <a:t>Strategic Card System</a:t>
            </a:r>
          </a:p>
        </p:txBody>
      </p:sp>
      <p:grpSp>
        <p:nvGrpSpPr>
          <p:cNvPr name="Group 11" id="11"/>
          <p:cNvGrpSpPr/>
          <p:nvPr/>
        </p:nvGrpSpPr>
        <p:grpSpPr>
          <a:xfrm rot="0">
            <a:off x="6811019" y="2985850"/>
            <a:ext cx="4407552" cy="4315300"/>
            <a:chOff x="0" y="0"/>
            <a:chExt cx="1367203" cy="1338587"/>
          </a:xfrm>
        </p:grpSpPr>
        <p:sp>
          <p:nvSpPr>
            <p:cNvPr name="Freeform 12" id="12"/>
            <p:cNvSpPr/>
            <p:nvPr/>
          </p:nvSpPr>
          <p:spPr>
            <a:xfrm flipH="false" flipV="false" rot="0">
              <a:off x="0" y="0"/>
              <a:ext cx="1367203" cy="1338587"/>
            </a:xfrm>
            <a:custGeom>
              <a:avLst/>
              <a:gdLst/>
              <a:ahLst/>
              <a:cxnLst/>
              <a:rect r="r" b="b" t="t" l="l"/>
              <a:pathLst>
                <a:path h="1338587" w="1367203">
                  <a:moveTo>
                    <a:pt x="0" y="0"/>
                  </a:moveTo>
                  <a:lnTo>
                    <a:pt x="1367203" y="0"/>
                  </a:lnTo>
                  <a:lnTo>
                    <a:pt x="1367203" y="1338587"/>
                  </a:lnTo>
                  <a:lnTo>
                    <a:pt x="0" y="1338587"/>
                  </a:lnTo>
                  <a:close/>
                </a:path>
              </a:pathLst>
            </a:custGeom>
            <a:solidFill>
              <a:srgbClr val="FF8C8C"/>
            </a:solidFill>
          </p:spPr>
        </p:sp>
        <p:sp>
          <p:nvSpPr>
            <p:cNvPr name="TextBox 13" id="13"/>
            <p:cNvSpPr txBox="true"/>
            <p:nvPr/>
          </p:nvSpPr>
          <p:spPr>
            <a:xfrm>
              <a:off x="0" y="-47625"/>
              <a:ext cx="1367203" cy="1386212"/>
            </a:xfrm>
            <a:prstGeom prst="rect">
              <a:avLst/>
            </a:prstGeom>
          </p:spPr>
          <p:txBody>
            <a:bodyPr anchor="ctr" rtlCol="false" tIns="50800" lIns="50800" bIns="50800" rIns="50800"/>
            <a:lstStyle/>
            <a:p>
              <a:pPr algn="ctr">
                <a:lnSpc>
                  <a:spcPts val="3359"/>
                </a:lnSpc>
              </a:pPr>
              <a:r>
                <a:rPr lang="en-US" sz="2400" b="true">
                  <a:solidFill>
                    <a:srgbClr val="000000"/>
                  </a:solidFill>
                  <a:latin typeface="JetBrains Mono Bold"/>
                  <a:ea typeface="JetBrains Mono Bold"/>
                  <a:cs typeface="JetBrains Mono Bold"/>
                  <a:sym typeface="JetBrains Mono Bold"/>
                </a:rPr>
                <a:t>COMBAT</a:t>
              </a:r>
            </a:p>
            <a:p>
              <a:pPr algn="ctr">
                <a:lnSpc>
                  <a:spcPts val="2956"/>
                </a:lnSpc>
              </a:pPr>
            </a:p>
            <a:p>
              <a:pPr algn="ctr">
                <a:lnSpc>
                  <a:spcPts val="2800"/>
                </a:lnSpc>
              </a:pPr>
              <a:r>
                <a:rPr lang="en-US" sz="2000" b="true">
                  <a:solidFill>
                    <a:srgbClr val="000000"/>
                  </a:solidFill>
                  <a:latin typeface="JetBrains Mono Bold"/>
                  <a:ea typeface="JetBrains Mono Bold"/>
                  <a:cs typeface="JetBrains Mono Bold"/>
                  <a:sym typeface="JetBrains Mono Bold"/>
                </a:rPr>
                <a:t>Offens</a:t>
              </a:r>
              <a:r>
                <a:rPr lang="en-US" sz="2000" b="true">
                  <a:solidFill>
                    <a:srgbClr val="000000"/>
                  </a:solidFill>
                  <a:latin typeface="JetBrains Mono Bold"/>
                  <a:ea typeface="JetBrains Mono Bold"/>
                  <a:cs typeface="JetBrains Mono Bold"/>
                  <a:sym typeface="JetBrains Mono Bold"/>
                </a:rPr>
                <a:t>ive and defensive abilities</a:t>
              </a:r>
            </a:p>
            <a:p>
              <a:pPr algn="ctr">
                <a:lnSpc>
                  <a:spcPts val="2800"/>
                </a:lnSpc>
              </a:pPr>
            </a:p>
            <a:p>
              <a:pPr algn="ctr">
                <a:lnSpc>
                  <a:spcPts val="2800"/>
                </a:lnSpc>
              </a:pPr>
              <a:r>
                <a:rPr lang="en-US" sz="2000" b="true">
                  <a:solidFill>
                    <a:srgbClr val="000000"/>
                  </a:solidFill>
                  <a:latin typeface="JetBrains Mono Bold"/>
                  <a:ea typeface="JetBrains Mono Bold"/>
                  <a:cs typeface="JetBrains Mono Bold"/>
                  <a:sym typeface="JetBrains Mono Bold"/>
                </a:rPr>
                <a:t>Chameleon Veil</a:t>
              </a:r>
            </a:p>
            <a:p>
              <a:pPr algn="ctr">
                <a:lnSpc>
                  <a:spcPts val="2800"/>
                </a:lnSpc>
              </a:pPr>
              <a:r>
                <a:rPr lang="en-US" sz="2000" b="true">
                  <a:solidFill>
                    <a:srgbClr val="000000"/>
                  </a:solidFill>
                  <a:latin typeface="JetBrains Mono Bold"/>
                  <a:ea typeface="JetBrains Mono Bold"/>
                  <a:cs typeface="JetBrains Mono Bold"/>
                  <a:sym typeface="JetBrains Mono Bold"/>
                </a:rPr>
                <a:t>Fire Kiss</a:t>
              </a:r>
            </a:p>
            <a:p>
              <a:pPr algn="ctr">
                <a:lnSpc>
                  <a:spcPts val="2800"/>
                </a:lnSpc>
              </a:pPr>
              <a:r>
                <a:rPr lang="en-US" sz="2000" b="true">
                  <a:solidFill>
                    <a:srgbClr val="000000"/>
                  </a:solidFill>
                  <a:latin typeface="JetBrains Mono Bold"/>
                  <a:ea typeface="JetBrains Mono Bold"/>
                  <a:cs typeface="JetBrains Mono Bold"/>
                  <a:sym typeface="JetBrains Mono Bold"/>
                </a:rPr>
                <a:t>Thunder Tongue</a:t>
              </a:r>
            </a:p>
            <a:p>
              <a:pPr algn="ctr">
                <a:lnSpc>
                  <a:spcPts val="2800"/>
                </a:lnSpc>
              </a:pPr>
              <a:r>
                <a:rPr lang="en-US" sz="2000" b="true">
                  <a:solidFill>
                    <a:srgbClr val="000000"/>
                  </a:solidFill>
                  <a:latin typeface="JetBrains Mono Bold"/>
                  <a:ea typeface="JetBrains Mono Bold"/>
                  <a:cs typeface="JetBrains Mono Bold"/>
                  <a:sym typeface="JetBrains Mono Bold"/>
                </a:rPr>
                <a:t>Toad Shockwave</a:t>
              </a:r>
            </a:p>
            <a:p>
              <a:pPr algn="ctr">
                <a:lnSpc>
                  <a:spcPts val="2800"/>
                </a:lnSpc>
              </a:pPr>
              <a:r>
                <a:rPr lang="en-US" b="true" sz="2000">
                  <a:solidFill>
                    <a:srgbClr val="000000"/>
                  </a:solidFill>
                  <a:latin typeface="JetBrains Mono Bold"/>
                  <a:ea typeface="JetBrains Mono Bold"/>
                  <a:cs typeface="JetBrains Mono Bold"/>
                  <a:sym typeface="JetBrains Mono Bold"/>
                </a:rPr>
                <a:t>Venom Lash</a:t>
              </a:r>
            </a:p>
            <a:p>
              <a:pPr algn="ctr">
                <a:lnSpc>
                  <a:spcPts val="2800"/>
                </a:lnSpc>
              </a:pPr>
            </a:p>
          </p:txBody>
        </p:sp>
      </p:grpSp>
      <p:grpSp>
        <p:nvGrpSpPr>
          <p:cNvPr name="Group 14" id="14"/>
          <p:cNvGrpSpPr/>
          <p:nvPr/>
        </p:nvGrpSpPr>
        <p:grpSpPr>
          <a:xfrm rot="0">
            <a:off x="11790072" y="2985850"/>
            <a:ext cx="4407552" cy="4315300"/>
            <a:chOff x="0" y="0"/>
            <a:chExt cx="1367203" cy="1338587"/>
          </a:xfrm>
        </p:grpSpPr>
        <p:sp>
          <p:nvSpPr>
            <p:cNvPr name="Freeform 15" id="15"/>
            <p:cNvSpPr/>
            <p:nvPr/>
          </p:nvSpPr>
          <p:spPr>
            <a:xfrm flipH="false" flipV="false" rot="0">
              <a:off x="0" y="0"/>
              <a:ext cx="1367203" cy="1338587"/>
            </a:xfrm>
            <a:custGeom>
              <a:avLst/>
              <a:gdLst/>
              <a:ahLst/>
              <a:cxnLst/>
              <a:rect r="r" b="b" t="t" l="l"/>
              <a:pathLst>
                <a:path h="1338587" w="1367203">
                  <a:moveTo>
                    <a:pt x="0" y="0"/>
                  </a:moveTo>
                  <a:lnTo>
                    <a:pt x="1367203" y="0"/>
                  </a:lnTo>
                  <a:lnTo>
                    <a:pt x="1367203" y="1338587"/>
                  </a:lnTo>
                  <a:lnTo>
                    <a:pt x="0" y="1338587"/>
                  </a:lnTo>
                  <a:close/>
                </a:path>
              </a:pathLst>
            </a:custGeom>
            <a:solidFill>
              <a:srgbClr val="DEFF8C"/>
            </a:solidFill>
          </p:spPr>
        </p:sp>
        <p:sp>
          <p:nvSpPr>
            <p:cNvPr name="TextBox 16" id="16"/>
            <p:cNvSpPr txBox="true"/>
            <p:nvPr/>
          </p:nvSpPr>
          <p:spPr>
            <a:xfrm>
              <a:off x="0" y="-47625"/>
              <a:ext cx="1367203" cy="1386212"/>
            </a:xfrm>
            <a:prstGeom prst="rect">
              <a:avLst/>
            </a:prstGeom>
          </p:spPr>
          <p:txBody>
            <a:bodyPr anchor="ctr" rtlCol="false" tIns="50800" lIns="50800" bIns="50800" rIns="50800"/>
            <a:lstStyle/>
            <a:p>
              <a:pPr algn="ctr">
                <a:lnSpc>
                  <a:spcPts val="3359"/>
                </a:lnSpc>
              </a:pPr>
              <a:r>
                <a:rPr lang="en-US" sz="2400" b="true">
                  <a:solidFill>
                    <a:srgbClr val="000000"/>
                  </a:solidFill>
                  <a:latin typeface="JetBrains Mono Bold"/>
                  <a:ea typeface="JetBrains Mono Bold"/>
                  <a:cs typeface="JetBrains Mono Bold"/>
                  <a:sym typeface="JetBrains Mono Bold"/>
                </a:rPr>
                <a:t>UTILITY</a:t>
              </a:r>
            </a:p>
            <a:p>
              <a:pPr algn="ctr">
                <a:lnSpc>
                  <a:spcPts val="2956"/>
                </a:lnSpc>
              </a:pPr>
            </a:p>
            <a:p>
              <a:pPr algn="ctr">
                <a:lnSpc>
                  <a:spcPts val="2800"/>
                </a:lnSpc>
              </a:pPr>
              <a:r>
                <a:rPr lang="en-US" sz="2000" b="true">
                  <a:solidFill>
                    <a:srgbClr val="000000"/>
                  </a:solidFill>
                  <a:latin typeface="JetBrains Mono Bold"/>
                  <a:ea typeface="JetBrains Mono Bold"/>
                  <a:cs typeface="JetBrains Mono Bold"/>
                  <a:sym typeface="JetBrains Mono Bold"/>
                </a:rPr>
                <a:t>Supp</a:t>
              </a:r>
              <a:r>
                <a:rPr lang="en-US" sz="2000" b="true">
                  <a:solidFill>
                    <a:srgbClr val="000000"/>
                  </a:solidFill>
                  <a:latin typeface="JetBrains Mono Bold"/>
                  <a:ea typeface="JetBrains Mono Bold"/>
                  <a:cs typeface="JetBrains Mono Bold"/>
                  <a:sym typeface="JetBrains Mono Bold"/>
                </a:rPr>
                <a:t>ort and resource abilities</a:t>
              </a:r>
            </a:p>
            <a:p>
              <a:pPr algn="ctr">
                <a:lnSpc>
                  <a:spcPts val="2800"/>
                </a:lnSpc>
              </a:pPr>
            </a:p>
            <a:p>
              <a:pPr algn="ctr">
                <a:lnSpc>
                  <a:spcPts val="2800"/>
                </a:lnSpc>
              </a:pPr>
              <a:r>
                <a:rPr lang="en-US" sz="2000" b="true">
                  <a:solidFill>
                    <a:srgbClr val="000000"/>
                  </a:solidFill>
                  <a:latin typeface="JetBrains Mono Bold"/>
                  <a:ea typeface="JetBrains Mono Bold"/>
                  <a:cs typeface="JetBrains Mono Bold"/>
                  <a:sym typeface="JetBrains Mono Bold"/>
                </a:rPr>
                <a:t>Lucky Pond</a:t>
              </a:r>
            </a:p>
            <a:p>
              <a:pPr algn="ctr">
                <a:lnSpc>
                  <a:spcPts val="2800"/>
                </a:lnSpc>
              </a:pPr>
              <a:r>
                <a:rPr lang="en-US" sz="2000" b="true">
                  <a:solidFill>
                    <a:srgbClr val="000000"/>
                  </a:solidFill>
                  <a:latin typeface="JetBrains Mono Bold"/>
                  <a:ea typeface="JetBrains Mono Bold"/>
                  <a:cs typeface="JetBrains Mono Bold"/>
                  <a:sym typeface="JetBrains Mono Bold"/>
                </a:rPr>
                <a:t>Metamorphosis</a:t>
              </a:r>
            </a:p>
            <a:p>
              <a:pPr algn="ctr">
                <a:lnSpc>
                  <a:spcPts val="2800"/>
                </a:lnSpc>
              </a:pPr>
              <a:r>
                <a:rPr lang="en-US" sz="2000" b="true">
                  <a:solidFill>
                    <a:srgbClr val="000000"/>
                  </a:solidFill>
                  <a:latin typeface="JetBrains Mono Bold"/>
                  <a:ea typeface="JetBrains Mono Bold"/>
                  <a:cs typeface="JetBrains Mono Bold"/>
                  <a:sym typeface="JetBrains Mono Bold"/>
                </a:rPr>
                <a:t>Spiked Whip</a:t>
              </a:r>
            </a:p>
            <a:p>
              <a:pPr algn="ctr">
                <a:lnSpc>
                  <a:spcPts val="2800"/>
                </a:lnSpc>
              </a:pPr>
              <a:r>
                <a:rPr lang="en-US" sz="2000" b="true">
                  <a:solidFill>
                    <a:srgbClr val="000000"/>
                  </a:solidFill>
                  <a:latin typeface="JetBrains Mono Bold"/>
                  <a:ea typeface="JetBrains Mono Bold"/>
                  <a:cs typeface="JetBrains Mono Bold"/>
                  <a:sym typeface="JetBrains Mono Bold"/>
                </a:rPr>
                <a:t>Tadpole Heart</a:t>
              </a:r>
            </a:p>
            <a:p>
              <a:pPr algn="ctr">
                <a:lnSpc>
                  <a:spcPts val="2800"/>
                </a:lnSpc>
              </a:pPr>
              <a:r>
                <a:rPr lang="en-US" b="true" sz="2000">
                  <a:solidFill>
                    <a:srgbClr val="000000"/>
                  </a:solidFill>
                  <a:latin typeface="JetBrains Mono Bold"/>
                  <a:ea typeface="JetBrains Mono Bold"/>
                  <a:cs typeface="JetBrains Mono Bold"/>
                  <a:sym typeface="JetBrains Mono Bold"/>
                </a:rPr>
                <a:t>Thorn Skin</a:t>
              </a:r>
            </a:p>
            <a:p>
              <a:pPr algn="ctr">
                <a:lnSpc>
                  <a:spcPts val="2800"/>
                </a:lnSpc>
              </a:pPr>
            </a:p>
          </p:txBody>
        </p:sp>
      </p:grpSp>
      <p:sp>
        <p:nvSpPr>
          <p:cNvPr name="TextBox 17" id="17"/>
          <p:cNvSpPr txBox="true"/>
          <p:nvPr/>
        </p:nvSpPr>
        <p:spPr>
          <a:xfrm rot="0">
            <a:off x="4558762" y="7742927"/>
            <a:ext cx="9134465" cy="1841837"/>
          </a:xfrm>
          <a:prstGeom prst="rect">
            <a:avLst/>
          </a:prstGeom>
        </p:spPr>
        <p:txBody>
          <a:bodyPr anchor="t" rtlCol="false" tIns="0" lIns="0" bIns="0" rIns="0">
            <a:spAutoFit/>
          </a:bodyPr>
          <a:lstStyle/>
          <a:p>
            <a:pPr algn="ctr">
              <a:lnSpc>
                <a:spcPts val="2956"/>
              </a:lnSpc>
            </a:pPr>
            <a:r>
              <a:rPr lang="en-US" sz="2111">
                <a:solidFill>
                  <a:srgbClr val="FFFFFF"/>
                </a:solidFill>
                <a:latin typeface="JetBrains Mono"/>
                <a:ea typeface="JetBrains Mono"/>
                <a:cs typeface="JetBrains Mono"/>
                <a:sym typeface="JetBrains Mono"/>
              </a:rPr>
              <a:t>Implemented TCG Mechanics:</a:t>
            </a:r>
          </a:p>
          <a:p>
            <a:pPr algn="ctr">
              <a:lnSpc>
                <a:spcPts val="2956"/>
              </a:lnSpc>
            </a:pPr>
          </a:p>
          <a:p>
            <a:pPr algn="ctr">
              <a:lnSpc>
                <a:spcPts val="2956"/>
              </a:lnSpc>
            </a:pPr>
            <a:r>
              <a:rPr lang="en-US" sz="2111">
                <a:solidFill>
                  <a:srgbClr val="FFFFFF"/>
                </a:solidFill>
                <a:latin typeface="JetBrains Mono"/>
                <a:ea typeface="JetBrains Mono"/>
                <a:cs typeface="JetBrains Mono"/>
                <a:sym typeface="JetBrains Mono"/>
              </a:rPr>
              <a:t>Pre-run deck building, 3 limited slots, card combinations benefit from each other, strategic decisions, cooldowns and effects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57771" y="484456"/>
            <a:ext cx="915543" cy="4114800"/>
          </a:xfrm>
          <a:custGeom>
            <a:avLst/>
            <a:gdLst/>
            <a:ahLst/>
            <a:cxnLst/>
            <a:rect r="r" b="b" t="t" l="l"/>
            <a:pathLst>
              <a:path h="4114800" w="915543">
                <a:moveTo>
                  <a:pt x="0" y="0"/>
                </a:moveTo>
                <a:lnTo>
                  <a:pt x="915543" y="0"/>
                </a:lnTo>
                <a:lnTo>
                  <a:pt x="91554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400000">
            <a:off x="16138165" y="8110361"/>
            <a:ext cx="1150809" cy="2295877"/>
          </a:xfrm>
          <a:custGeom>
            <a:avLst/>
            <a:gdLst/>
            <a:ahLst/>
            <a:cxnLst/>
            <a:rect r="r" b="b" t="t" l="l"/>
            <a:pathLst>
              <a:path h="2295877" w="1150809">
                <a:moveTo>
                  <a:pt x="0" y="0"/>
                </a:moveTo>
                <a:lnTo>
                  <a:pt x="1150809" y="0"/>
                </a:lnTo>
                <a:lnTo>
                  <a:pt x="1150809" y="2295878"/>
                </a:lnTo>
                <a:lnTo>
                  <a:pt x="0" y="22958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6713569" y="4785310"/>
            <a:ext cx="2616002" cy="1255681"/>
          </a:xfrm>
          <a:custGeom>
            <a:avLst/>
            <a:gdLst/>
            <a:ahLst/>
            <a:cxnLst/>
            <a:rect r="r" b="b" t="t" l="l"/>
            <a:pathLst>
              <a:path h="1255681" w="2616002">
                <a:moveTo>
                  <a:pt x="0" y="0"/>
                </a:moveTo>
                <a:lnTo>
                  <a:pt x="2616002" y="0"/>
                </a:lnTo>
                <a:lnTo>
                  <a:pt x="2616002" y="1255681"/>
                </a:lnTo>
                <a:lnTo>
                  <a:pt x="0" y="12556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0" y="5040630"/>
            <a:ext cx="6098574" cy="5246370"/>
            <a:chOff x="0" y="0"/>
            <a:chExt cx="944829" cy="812800"/>
          </a:xfrm>
        </p:grpSpPr>
        <p:sp>
          <p:nvSpPr>
            <p:cNvPr name="Freeform 6" id="6"/>
            <p:cNvSpPr/>
            <p:nvPr/>
          </p:nvSpPr>
          <p:spPr>
            <a:xfrm flipH="false" flipV="false" rot="0">
              <a:off x="0" y="0"/>
              <a:ext cx="944829" cy="812800"/>
            </a:xfrm>
            <a:custGeom>
              <a:avLst/>
              <a:gdLst/>
              <a:ahLst/>
              <a:cxnLst/>
              <a:rect r="r" b="b" t="t" l="l"/>
              <a:pathLst>
                <a:path h="812800" w="944829">
                  <a:moveTo>
                    <a:pt x="0" y="0"/>
                  </a:moveTo>
                  <a:lnTo>
                    <a:pt x="944829" y="0"/>
                  </a:lnTo>
                  <a:lnTo>
                    <a:pt x="944829" y="812800"/>
                  </a:lnTo>
                  <a:lnTo>
                    <a:pt x="0" y="812800"/>
                  </a:lnTo>
                  <a:close/>
                </a:path>
              </a:pathLst>
            </a:custGeom>
            <a:blipFill>
              <a:blip r:embed="rId8"/>
              <a:stretch>
                <a:fillRect l="-26980" t="0" r="-26980" b="0"/>
              </a:stretch>
            </a:blipFill>
          </p:spPr>
        </p:sp>
      </p:grpSp>
      <p:grpSp>
        <p:nvGrpSpPr>
          <p:cNvPr name="Group 7" id="7"/>
          <p:cNvGrpSpPr/>
          <p:nvPr/>
        </p:nvGrpSpPr>
        <p:grpSpPr>
          <a:xfrm rot="0">
            <a:off x="6094713" y="5040630"/>
            <a:ext cx="6098574" cy="5246370"/>
            <a:chOff x="0" y="0"/>
            <a:chExt cx="944829" cy="812800"/>
          </a:xfrm>
        </p:grpSpPr>
        <p:sp>
          <p:nvSpPr>
            <p:cNvPr name="Freeform 8" id="8"/>
            <p:cNvSpPr/>
            <p:nvPr/>
          </p:nvSpPr>
          <p:spPr>
            <a:xfrm flipH="false" flipV="false" rot="0">
              <a:off x="0" y="0"/>
              <a:ext cx="944829" cy="812800"/>
            </a:xfrm>
            <a:custGeom>
              <a:avLst/>
              <a:gdLst/>
              <a:ahLst/>
              <a:cxnLst/>
              <a:rect r="r" b="b" t="t" l="l"/>
              <a:pathLst>
                <a:path h="812800" w="944829">
                  <a:moveTo>
                    <a:pt x="0" y="0"/>
                  </a:moveTo>
                  <a:lnTo>
                    <a:pt x="944829" y="0"/>
                  </a:lnTo>
                  <a:lnTo>
                    <a:pt x="944829" y="812800"/>
                  </a:lnTo>
                  <a:lnTo>
                    <a:pt x="0" y="812800"/>
                  </a:lnTo>
                  <a:close/>
                </a:path>
              </a:pathLst>
            </a:custGeom>
            <a:blipFill>
              <a:blip r:embed="rId9"/>
              <a:stretch>
                <a:fillRect l="-26980" t="0" r="-26980" b="0"/>
              </a:stretch>
            </a:blipFill>
          </p:spPr>
        </p:sp>
      </p:grpSp>
      <p:grpSp>
        <p:nvGrpSpPr>
          <p:cNvPr name="Group 9" id="9"/>
          <p:cNvGrpSpPr/>
          <p:nvPr/>
        </p:nvGrpSpPr>
        <p:grpSpPr>
          <a:xfrm rot="0">
            <a:off x="12197148" y="5040630"/>
            <a:ext cx="6098574" cy="5246370"/>
            <a:chOff x="0" y="0"/>
            <a:chExt cx="944829" cy="812800"/>
          </a:xfrm>
        </p:grpSpPr>
        <p:sp>
          <p:nvSpPr>
            <p:cNvPr name="Freeform 10" id="10"/>
            <p:cNvSpPr/>
            <p:nvPr/>
          </p:nvSpPr>
          <p:spPr>
            <a:xfrm flipH="false" flipV="false" rot="0">
              <a:off x="0" y="0"/>
              <a:ext cx="944829" cy="812800"/>
            </a:xfrm>
            <a:custGeom>
              <a:avLst/>
              <a:gdLst/>
              <a:ahLst/>
              <a:cxnLst/>
              <a:rect r="r" b="b" t="t" l="l"/>
              <a:pathLst>
                <a:path h="812800" w="944829">
                  <a:moveTo>
                    <a:pt x="0" y="0"/>
                  </a:moveTo>
                  <a:lnTo>
                    <a:pt x="944829" y="0"/>
                  </a:lnTo>
                  <a:lnTo>
                    <a:pt x="944829" y="812800"/>
                  </a:lnTo>
                  <a:lnTo>
                    <a:pt x="0" y="812800"/>
                  </a:lnTo>
                  <a:close/>
                </a:path>
              </a:pathLst>
            </a:custGeom>
            <a:blipFill>
              <a:blip r:embed="rId10"/>
              <a:stretch>
                <a:fillRect l="-26980" t="0" r="-26980" b="0"/>
              </a:stretch>
            </a:blipFill>
          </p:spPr>
        </p:sp>
      </p:grpSp>
      <p:sp>
        <p:nvSpPr>
          <p:cNvPr name="Freeform 11" id="11"/>
          <p:cNvSpPr/>
          <p:nvPr/>
        </p:nvSpPr>
        <p:spPr>
          <a:xfrm flipH="false" flipV="false" rot="0">
            <a:off x="1613640" y="469401"/>
            <a:ext cx="3633770" cy="2242540"/>
          </a:xfrm>
          <a:custGeom>
            <a:avLst/>
            <a:gdLst/>
            <a:ahLst/>
            <a:cxnLst/>
            <a:rect r="r" b="b" t="t" l="l"/>
            <a:pathLst>
              <a:path h="2242540" w="3633770">
                <a:moveTo>
                  <a:pt x="0" y="0"/>
                </a:moveTo>
                <a:lnTo>
                  <a:pt x="3633770" y="0"/>
                </a:lnTo>
                <a:lnTo>
                  <a:pt x="3633770" y="2242540"/>
                </a:lnTo>
                <a:lnTo>
                  <a:pt x="0" y="2242540"/>
                </a:lnTo>
                <a:lnTo>
                  <a:pt x="0" y="0"/>
                </a:lnTo>
                <a:close/>
              </a:path>
            </a:pathLst>
          </a:custGeom>
          <a:blipFill>
            <a:blip r:embed="rId11"/>
            <a:stretch>
              <a:fillRect l="-263800" t="-83755" r="0" b="-701039"/>
            </a:stretch>
          </a:blipFill>
        </p:spPr>
      </p:sp>
      <p:sp>
        <p:nvSpPr>
          <p:cNvPr name="Freeform 12" id="12"/>
          <p:cNvSpPr/>
          <p:nvPr/>
        </p:nvSpPr>
        <p:spPr>
          <a:xfrm flipH="false" flipV="false" rot="0">
            <a:off x="13998070" y="1028700"/>
            <a:ext cx="3823220" cy="1497395"/>
          </a:xfrm>
          <a:custGeom>
            <a:avLst/>
            <a:gdLst/>
            <a:ahLst/>
            <a:cxnLst/>
            <a:rect r="r" b="b" t="t" l="l"/>
            <a:pathLst>
              <a:path h="1497395" w="3823220">
                <a:moveTo>
                  <a:pt x="0" y="0"/>
                </a:moveTo>
                <a:lnTo>
                  <a:pt x="3823220" y="0"/>
                </a:lnTo>
                <a:lnTo>
                  <a:pt x="3823220" y="1497395"/>
                </a:lnTo>
                <a:lnTo>
                  <a:pt x="0" y="1497395"/>
                </a:lnTo>
                <a:lnTo>
                  <a:pt x="0" y="0"/>
                </a:lnTo>
                <a:close/>
              </a:path>
            </a:pathLst>
          </a:custGeom>
          <a:blipFill>
            <a:blip r:embed="rId12"/>
            <a:stretch>
              <a:fillRect l="0" t="-79541" r="-322977" b="-540436"/>
            </a:stretch>
          </a:blipFill>
        </p:spPr>
      </p:sp>
      <p:sp>
        <p:nvSpPr>
          <p:cNvPr name="TextBox 13" id="13"/>
          <p:cNvSpPr txBox="true"/>
          <p:nvPr/>
        </p:nvSpPr>
        <p:spPr>
          <a:xfrm rot="0">
            <a:off x="4392671" y="1843379"/>
            <a:ext cx="9502658" cy="695383"/>
          </a:xfrm>
          <a:prstGeom prst="rect">
            <a:avLst/>
          </a:prstGeom>
        </p:spPr>
        <p:txBody>
          <a:bodyPr anchor="t" rtlCol="false" tIns="0" lIns="0" bIns="0" rIns="0">
            <a:spAutoFit/>
          </a:bodyPr>
          <a:lstStyle/>
          <a:p>
            <a:pPr algn="ctr" marL="0" indent="0" lvl="1">
              <a:lnSpc>
                <a:spcPts val="5771"/>
              </a:lnSpc>
              <a:spcBef>
                <a:spcPct val="0"/>
              </a:spcBef>
            </a:pPr>
            <a:r>
              <a:rPr lang="en-US" sz="4122">
                <a:solidFill>
                  <a:srgbClr val="FFFFFF"/>
                </a:solidFill>
                <a:latin typeface="Press Start 2P"/>
                <a:ea typeface="Press Start 2P"/>
                <a:cs typeface="Press Start 2P"/>
                <a:sym typeface="Press Start 2P"/>
              </a:rPr>
              <a:t>VISUAL STYLE</a:t>
            </a:r>
          </a:p>
        </p:txBody>
      </p:sp>
      <p:sp>
        <p:nvSpPr>
          <p:cNvPr name="TextBox 14" id="14"/>
          <p:cNvSpPr txBox="true"/>
          <p:nvPr/>
        </p:nvSpPr>
        <p:spPr>
          <a:xfrm rot="0">
            <a:off x="1613640" y="2864341"/>
            <a:ext cx="14296039" cy="727412"/>
          </a:xfrm>
          <a:prstGeom prst="rect">
            <a:avLst/>
          </a:prstGeom>
        </p:spPr>
        <p:txBody>
          <a:bodyPr anchor="t" rtlCol="false" tIns="0" lIns="0" bIns="0" rIns="0">
            <a:spAutoFit/>
          </a:bodyPr>
          <a:lstStyle/>
          <a:p>
            <a:pPr algn="ctr">
              <a:lnSpc>
                <a:spcPts val="2956"/>
              </a:lnSpc>
            </a:pPr>
            <a:r>
              <a:rPr lang="en-US" sz="2111">
                <a:solidFill>
                  <a:srgbClr val="FFFFFF"/>
                </a:solidFill>
                <a:latin typeface="JetBrains Mono"/>
                <a:ea typeface="JetBrains Mono"/>
                <a:cs typeface="JetBrains Mono"/>
                <a:sym typeface="JetBrains Mono"/>
              </a:rPr>
              <a:t>Anura uses a pixel-art a</a:t>
            </a:r>
            <a:r>
              <a:rPr lang="en-US" sz="2111">
                <a:solidFill>
                  <a:srgbClr val="FFFFFF"/>
                </a:solidFill>
                <a:latin typeface="JetBrains Mono"/>
                <a:ea typeface="JetBrains Mono"/>
                <a:cs typeface="JetBrains Mono"/>
                <a:sym typeface="JetBrains Mono"/>
              </a:rPr>
              <a:t>esthetic with a "</a:t>
            </a:r>
            <a:r>
              <a:rPr lang="en-US" sz="2111">
                <a:solidFill>
                  <a:srgbClr val="FFFFFF"/>
                </a:solidFill>
                <a:latin typeface="JetBrains Mono"/>
                <a:ea typeface="JetBrains Mono"/>
                <a:cs typeface="JetBrains Mono"/>
                <a:sym typeface="JetBrains Mono"/>
              </a:rPr>
              <a:t>Cute but Deadly" design philosophy. </a:t>
            </a:r>
          </a:p>
          <a:p>
            <a:pPr algn="ctr">
              <a:lnSpc>
                <a:spcPts val="2956"/>
              </a:lnSpc>
            </a:pPr>
          </a:p>
        </p:txBody>
      </p:sp>
      <p:sp>
        <p:nvSpPr>
          <p:cNvPr name="TextBox 15" id="15"/>
          <p:cNvSpPr txBox="true"/>
          <p:nvPr/>
        </p:nvSpPr>
        <p:spPr>
          <a:xfrm rot="0">
            <a:off x="695626" y="3746500"/>
            <a:ext cx="4707323" cy="1397000"/>
          </a:xfrm>
          <a:prstGeom prst="rect">
            <a:avLst/>
          </a:prstGeom>
        </p:spPr>
        <p:txBody>
          <a:bodyPr anchor="t" rtlCol="false" tIns="0" lIns="0" bIns="0" rIns="0">
            <a:spAutoFit/>
          </a:bodyPr>
          <a:lstStyle/>
          <a:p>
            <a:pPr algn="ctr">
              <a:lnSpc>
                <a:spcPts val="2799"/>
              </a:lnSpc>
            </a:pPr>
            <a:r>
              <a:rPr lang="en-US" sz="1999" spc="-43">
                <a:solidFill>
                  <a:srgbClr val="FFFFFF"/>
                </a:solidFill>
                <a:latin typeface="JetBrains Mono"/>
                <a:ea typeface="JetBrains Mono"/>
                <a:cs typeface="JetBrains Mono"/>
                <a:sym typeface="JetBrains Mono"/>
              </a:rPr>
              <a:t>Swamp Surface</a:t>
            </a:r>
          </a:p>
          <a:p>
            <a:pPr algn="ctr">
              <a:lnSpc>
                <a:spcPts val="2799"/>
              </a:lnSpc>
            </a:pPr>
            <a:r>
              <a:rPr lang="en-US" sz="1999" spc="-43">
                <a:solidFill>
                  <a:srgbClr val="FFFFFF"/>
                </a:solidFill>
                <a:latin typeface="JetBrains Mono"/>
                <a:ea typeface="JetBrains Mono"/>
                <a:cs typeface="JetBrains Mono"/>
                <a:sym typeface="JetBrains Mono"/>
              </a:rPr>
              <a:t>Calm, humid, cozy, slightly tense, natural and alive</a:t>
            </a:r>
          </a:p>
          <a:p>
            <a:pPr algn="ctr" marL="0" indent="0" lvl="0">
              <a:lnSpc>
                <a:spcPts val="2799"/>
              </a:lnSpc>
              <a:spcBef>
                <a:spcPct val="0"/>
              </a:spcBef>
            </a:pPr>
          </a:p>
        </p:txBody>
      </p:sp>
      <p:sp>
        <p:nvSpPr>
          <p:cNvPr name="TextBox 16" id="16"/>
          <p:cNvSpPr txBox="true"/>
          <p:nvPr/>
        </p:nvSpPr>
        <p:spPr>
          <a:xfrm rot="0">
            <a:off x="5950340" y="3746500"/>
            <a:ext cx="6387319" cy="1397000"/>
          </a:xfrm>
          <a:prstGeom prst="rect">
            <a:avLst/>
          </a:prstGeom>
        </p:spPr>
        <p:txBody>
          <a:bodyPr anchor="t" rtlCol="false" tIns="0" lIns="0" bIns="0" rIns="0">
            <a:spAutoFit/>
          </a:bodyPr>
          <a:lstStyle/>
          <a:p>
            <a:pPr algn="ctr" marL="0" indent="0" lvl="0">
              <a:lnSpc>
                <a:spcPts val="2799"/>
              </a:lnSpc>
              <a:spcBef>
                <a:spcPct val="0"/>
              </a:spcBef>
            </a:pPr>
            <a:r>
              <a:rPr lang="en-US" sz="1999" spc="-43" strike="noStrike" u="none">
                <a:solidFill>
                  <a:srgbClr val="FFFFFF"/>
                </a:solidFill>
                <a:latin typeface="JetBrains Mono"/>
                <a:ea typeface="JetBrains Mono"/>
                <a:cs typeface="JetBrains Mono"/>
                <a:sym typeface="JetBrains Mono"/>
              </a:rPr>
              <a:t>Dense Swamp</a:t>
            </a:r>
          </a:p>
          <a:p>
            <a:pPr algn="ctr" marL="0" indent="0" lvl="0">
              <a:lnSpc>
                <a:spcPts val="2799"/>
              </a:lnSpc>
              <a:spcBef>
                <a:spcPct val="0"/>
              </a:spcBef>
            </a:pPr>
            <a:r>
              <a:rPr lang="en-US" sz="1999" spc="-43" strike="noStrike" u="none">
                <a:solidFill>
                  <a:srgbClr val="FFFFFF"/>
                </a:solidFill>
                <a:latin typeface="JetBrains Mono"/>
                <a:ea typeface="JetBrains Mono"/>
                <a:cs typeface="JetBrains Mono"/>
                <a:sym typeface="JetBrains Mono"/>
              </a:rPr>
              <a:t>Darker, more enclosed, slightly oppressive, more dangerous, less visually open</a:t>
            </a:r>
          </a:p>
          <a:p>
            <a:pPr algn="ctr" marL="0" indent="0" lvl="0">
              <a:lnSpc>
                <a:spcPts val="2799"/>
              </a:lnSpc>
              <a:spcBef>
                <a:spcPct val="0"/>
              </a:spcBef>
            </a:pPr>
          </a:p>
        </p:txBody>
      </p:sp>
      <p:sp>
        <p:nvSpPr>
          <p:cNvPr name="TextBox 17" id="17"/>
          <p:cNvSpPr txBox="true"/>
          <p:nvPr/>
        </p:nvSpPr>
        <p:spPr>
          <a:xfrm rot="0">
            <a:off x="12906876" y="3746500"/>
            <a:ext cx="4988586" cy="1749425"/>
          </a:xfrm>
          <a:prstGeom prst="rect">
            <a:avLst/>
          </a:prstGeom>
        </p:spPr>
        <p:txBody>
          <a:bodyPr anchor="t" rtlCol="false" tIns="0" lIns="0" bIns="0" rIns="0">
            <a:spAutoFit/>
          </a:bodyPr>
          <a:lstStyle/>
          <a:p>
            <a:pPr algn="ctr" marL="0" indent="0" lvl="0">
              <a:lnSpc>
                <a:spcPts val="2799"/>
              </a:lnSpc>
              <a:spcBef>
                <a:spcPct val="0"/>
              </a:spcBef>
            </a:pPr>
            <a:r>
              <a:rPr lang="en-US" sz="1999" spc="-43" strike="noStrike" u="none">
                <a:solidFill>
                  <a:srgbClr val="FFFFFF"/>
                </a:solidFill>
                <a:latin typeface="JetBrains Mono"/>
                <a:ea typeface="JetBrains Mono"/>
                <a:cs typeface="JetBrains Mono"/>
                <a:sym typeface="JetBrains Mono"/>
              </a:rPr>
              <a:t>Predator Arena</a:t>
            </a:r>
          </a:p>
          <a:p>
            <a:pPr algn="ctr" marL="0" indent="0" lvl="0">
              <a:lnSpc>
                <a:spcPts val="2799"/>
              </a:lnSpc>
              <a:spcBef>
                <a:spcPct val="0"/>
              </a:spcBef>
            </a:pPr>
            <a:r>
              <a:rPr lang="en-US" sz="1999" spc="-43" strike="noStrike" u="none">
                <a:solidFill>
                  <a:srgbClr val="FFFFFF"/>
                </a:solidFill>
                <a:latin typeface="JetBrains Mono"/>
                <a:ea typeface="JetBrains Mono"/>
                <a:cs typeface="JetBrains Mono"/>
                <a:sym typeface="JetBrains Mono"/>
              </a:rPr>
              <a:t>Tense, focused, quiet before combat, isolated</a:t>
            </a:r>
          </a:p>
          <a:p>
            <a:pPr algn="ctr" marL="0" indent="0" lvl="0">
              <a:lnSpc>
                <a:spcPts val="2799"/>
              </a:lnSpc>
              <a:spcBef>
                <a:spcPct val="0"/>
              </a:spcBef>
            </a:pPr>
          </a:p>
          <a:p>
            <a:pPr algn="ctr" marL="0" indent="0" lvl="0">
              <a:lnSpc>
                <a:spcPts val="279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57771" y="484456"/>
            <a:ext cx="915543" cy="4114800"/>
          </a:xfrm>
          <a:custGeom>
            <a:avLst/>
            <a:gdLst/>
            <a:ahLst/>
            <a:cxnLst/>
            <a:rect r="r" b="b" t="t" l="l"/>
            <a:pathLst>
              <a:path h="4114800" w="915543">
                <a:moveTo>
                  <a:pt x="0" y="0"/>
                </a:moveTo>
                <a:lnTo>
                  <a:pt x="915543" y="0"/>
                </a:lnTo>
                <a:lnTo>
                  <a:pt x="91554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400000">
            <a:off x="16138165" y="8110361"/>
            <a:ext cx="1150809" cy="2295877"/>
          </a:xfrm>
          <a:custGeom>
            <a:avLst/>
            <a:gdLst/>
            <a:ahLst/>
            <a:cxnLst/>
            <a:rect r="r" b="b" t="t" l="l"/>
            <a:pathLst>
              <a:path h="2295877" w="1150809">
                <a:moveTo>
                  <a:pt x="0" y="0"/>
                </a:moveTo>
                <a:lnTo>
                  <a:pt x="1150809" y="0"/>
                </a:lnTo>
                <a:lnTo>
                  <a:pt x="1150809" y="2295878"/>
                </a:lnTo>
                <a:lnTo>
                  <a:pt x="0" y="22958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790647" y="791620"/>
            <a:ext cx="1093342" cy="1093342"/>
          </a:xfrm>
          <a:custGeom>
            <a:avLst/>
            <a:gdLst/>
            <a:ahLst/>
            <a:cxnLst/>
            <a:rect r="r" b="b" t="t" l="l"/>
            <a:pathLst>
              <a:path h="1093342" w="1093342">
                <a:moveTo>
                  <a:pt x="0" y="0"/>
                </a:moveTo>
                <a:lnTo>
                  <a:pt x="1093342" y="0"/>
                </a:lnTo>
                <a:lnTo>
                  <a:pt x="1093342" y="1093342"/>
                </a:lnTo>
                <a:lnTo>
                  <a:pt x="0" y="10933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16713569" y="4785310"/>
            <a:ext cx="2616002" cy="1255681"/>
          </a:xfrm>
          <a:custGeom>
            <a:avLst/>
            <a:gdLst/>
            <a:ahLst/>
            <a:cxnLst/>
            <a:rect r="r" b="b" t="t" l="l"/>
            <a:pathLst>
              <a:path h="1255681" w="2616002">
                <a:moveTo>
                  <a:pt x="0" y="0"/>
                </a:moveTo>
                <a:lnTo>
                  <a:pt x="2616002" y="0"/>
                </a:lnTo>
                <a:lnTo>
                  <a:pt x="2616002" y="1255681"/>
                </a:lnTo>
                <a:lnTo>
                  <a:pt x="0" y="12556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2883989" y="2086683"/>
            <a:ext cx="12841848" cy="6249707"/>
          </a:xfrm>
          <a:custGeom>
            <a:avLst/>
            <a:gdLst/>
            <a:ahLst/>
            <a:cxnLst/>
            <a:rect r="r" b="b" t="t" l="l"/>
            <a:pathLst>
              <a:path h="6249707" w="12841848">
                <a:moveTo>
                  <a:pt x="0" y="0"/>
                </a:moveTo>
                <a:lnTo>
                  <a:pt x="12841848" y="0"/>
                </a:lnTo>
                <a:lnTo>
                  <a:pt x="12841848" y="6249707"/>
                </a:lnTo>
                <a:lnTo>
                  <a:pt x="0" y="6249707"/>
                </a:lnTo>
                <a:lnTo>
                  <a:pt x="0" y="0"/>
                </a:lnTo>
                <a:close/>
              </a:path>
            </a:pathLst>
          </a:custGeom>
          <a:blipFill>
            <a:blip r:embed="rId10"/>
            <a:stretch>
              <a:fillRect l="0" t="0" r="0" b="-45376"/>
            </a:stretch>
          </a:blipFill>
        </p:spPr>
      </p:sp>
      <p:sp>
        <p:nvSpPr>
          <p:cNvPr name="TextBox 7" id="7"/>
          <p:cNvSpPr txBox="true"/>
          <p:nvPr/>
        </p:nvSpPr>
        <p:spPr>
          <a:xfrm rot="0">
            <a:off x="1028700" y="952500"/>
            <a:ext cx="16230600" cy="695383"/>
          </a:xfrm>
          <a:prstGeom prst="rect">
            <a:avLst/>
          </a:prstGeom>
        </p:spPr>
        <p:txBody>
          <a:bodyPr anchor="t" rtlCol="false" tIns="0" lIns="0" bIns="0" rIns="0">
            <a:spAutoFit/>
          </a:bodyPr>
          <a:lstStyle/>
          <a:p>
            <a:pPr algn="ctr" marL="0" indent="0" lvl="1">
              <a:lnSpc>
                <a:spcPts val="5771"/>
              </a:lnSpc>
              <a:spcBef>
                <a:spcPct val="0"/>
              </a:spcBef>
            </a:pPr>
            <a:r>
              <a:rPr lang="en-US" sz="4122">
                <a:solidFill>
                  <a:srgbClr val="FFFFFF"/>
                </a:solidFill>
                <a:latin typeface="Press Start 2P"/>
                <a:ea typeface="Press Start 2P"/>
                <a:cs typeface="Press Start 2P"/>
                <a:sym typeface="Press Start 2P"/>
              </a:rPr>
              <a:t>DATABASE</a:t>
            </a:r>
          </a:p>
        </p:txBody>
      </p:sp>
      <p:sp>
        <p:nvSpPr>
          <p:cNvPr name="Freeform 8" id="8"/>
          <p:cNvSpPr/>
          <p:nvPr/>
        </p:nvSpPr>
        <p:spPr>
          <a:xfrm flipH="false" flipV="false" rot="0">
            <a:off x="1445503" y="6478447"/>
            <a:ext cx="1808336" cy="2547306"/>
          </a:xfrm>
          <a:custGeom>
            <a:avLst/>
            <a:gdLst/>
            <a:ahLst/>
            <a:cxnLst/>
            <a:rect r="r" b="b" t="t" l="l"/>
            <a:pathLst>
              <a:path h="2547306" w="1808336">
                <a:moveTo>
                  <a:pt x="0" y="0"/>
                </a:moveTo>
                <a:lnTo>
                  <a:pt x="1808337" y="0"/>
                </a:lnTo>
                <a:lnTo>
                  <a:pt x="1808337" y="2547306"/>
                </a:lnTo>
                <a:lnTo>
                  <a:pt x="0" y="2547306"/>
                </a:lnTo>
                <a:lnTo>
                  <a:pt x="0" y="0"/>
                </a:lnTo>
                <a:close/>
              </a:path>
            </a:pathLst>
          </a:custGeom>
          <a:blipFill>
            <a:blip r:embed="rId10"/>
            <a:stretch>
              <a:fillRect l="0" t="-256675" r="-610147"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767492" y="4916058"/>
            <a:ext cx="1571165" cy="1615216"/>
          </a:xfrm>
          <a:custGeom>
            <a:avLst/>
            <a:gdLst/>
            <a:ahLst/>
            <a:cxnLst/>
            <a:rect r="r" b="b" t="t" l="l"/>
            <a:pathLst>
              <a:path h="1615216" w="1571165">
                <a:moveTo>
                  <a:pt x="0" y="0"/>
                </a:moveTo>
                <a:lnTo>
                  <a:pt x="1571164" y="0"/>
                </a:lnTo>
                <a:lnTo>
                  <a:pt x="1571164" y="1615217"/>
                </a:lnTo>
                <a:lnTo>
                  <a:pt x="0" y="16152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738407" y="3896025"/>
            <a:ext cx="8811185" cy="2635250"/>
          </a:xfrm>
          <a:prstGeom prst="rect">
            <a:avLst/>
          </a:prstGeom>
        </p:spPr>
        <p:txBody>
          <a:bodyPr anchor="t" rtlCol="false" tIns="0" lIns="0" bIns="0" rIns="0">
            <a:spAutoFit/>
          </a:bodyPr>
          <a:lstStyle/>
          <a:p>
            <a:pPr algn="ctr">
              <a:lnSpc>
                <a:spcPts val="7000"/>
              </a:lnSpc>
            </a:pPr>
            <a:r>
              <a:rPr lang="en-US" sz="5000">
                <a:solidFill>
                  <a:srgbClr val="C1FF72"/>
                </a:solidFill>
                <a:latin typeface="Press Start 2P"/>
                <a:ea typeface="Press Start 2P"/>
                <a:cs typeface="Press Start 2P"/>
                <a:sym typeface="Press Start 2P"/>
              </a:rPr>
              <a:t>PART 2</a:t>
            </a:r>
          </a:p>
          <a:p>
            <a:pPr algn="ctr" marL="0" indent="0" lvl="0">
              <a:lnSpc>
                <a:spcPts val="7000"/>
              </a:lnSpc>
              <a:spcBef>
                <a:spcPct val="0"/>
              </a:spcBef>
            </a:pPr>
            <a:r>
              <a:rPr lang="en-US" sz="5000">
                <a:solidFill>
                  <a:srgbClr val="C1FF72"/>
                </a:solidFill>
                <a:latin typeface="Press Start 2P"/>
                <a:ea typeface="Press Start 2P"/>
                <a:cs typeface="Press Start 2P"/>
                <a:sym typeface="Press Start 2P"/>
              </a:rPr>
              <a:t>GROUP REFLECTION</a:t>
            </a:r>
          </a:p>
        </p:txBody>
      </p:sp>
      <p:sp>
        <p:nvSpPr>
          <p:cNvPr name="Freeform 4" id="4"/>
          <p:cNvSpPr/>
          <p:nvPr/>
        </p:nvSpPr>
        <p:spPr>
          <a:xfrm flipH="false" flipV="false" rot="0">
            <a:off x="13178926" y="3878263"/>
            <a:ext cx="741333" cy="762118"/>
          </a:xfrm>
          <a:custGeom>
            <a:avLst/>
            <a:gdLst/>
            <a:ahLst/>
            <a:cxnLst/>
            <a:rect r="r" b="b" t="t" l="l"/>
            <a:pathLst>
              <a:path h="762118" w="741333">
                <a:moveTo>
                  <a:pt x="0" y="0"/>
                </a:moveTo>
                <a:lnTo>
                  <a:pt x="741333" y="0"/>
                </a:lnTo>
                <a:lnTo>
                  <a:pt x="741333" y="762118"/>
                </a:lnTo>
                <a:lnTo>
                  <a:pt x="0" y="7621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57771" y="484456"/>
            <a:ext cx="915543" cy="4114800"/>
          </a:xfrm>
          <a:custGeom>
            <a:avLst/>
            <a:gdLst/>
            <a:ahLst/>
            <a:cxnLst/>
            <a:rect r="r" b="b" t="t" l="l"/>
            <a:pathLst>
              <a:path h="4114800" w="915543">
                <a:moveTo>
                  <a:pt x="0" y="0"/>
                </a:moveTo>
                <a:lnTo>
                  <a:pt x="915543" y="0"/>
                </a:lnTo>
                <a:lnTo>
                  <a:pt x="91554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400000">
            <a:off x="16138165" y="8110361"/>
            <a:ext cx="1150809" cy="2295877"/>
          </a:xfrm>
          <a:custGeom>
            <a:avLst/>
            <a:gdLst/>
            <a:ahLst/>
            <a:cxnLst/>
            <a:rect r="r" b="b" t="t" l="l"/>
            <a:pathLst>
              <a:path h="2295877" w="1150809">
                <a:moveTo>
                  <a:pt x="0" y="0"/>
                </a:moveTo>
                <a:lnTo>
                  <a:pt x="1150809" y="0"/>
                </a:lnTo>
                <a:lnTo>
                  <a:pt x="1150809" y="2295878"/>
                </a:lnTo>
                <a:lnTo>
                  <a:pt x="0" y="22958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6713569" y="4785310"/>
            <a:ext cx="2616002" cy="1255681"/>
          </a:xfrm>
          <a:custGeom>
            <a:avLst/>
            <a:gdLst/>
            <a:ahLst/>
            <a:cxnLst/>
            <a:rect r="r" b="b" t="t" l="l"/>
            <a:pathLst>
              <a:path h="1255681" w="2616002">
                <a:moveTo>
                  <a:pt x="0" y="0"/>
                </a:moveTo>
                <a:lnTo>
                  <a:pt x="2616002" y="0"/>
                </a:lnTo>
                <a:lnTo>
                  <a:pt x="2616002" y="1255681"/>
                </a:lnTo>
                <a:lnTo>
                  <a:pt x="0" y="12556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539367" y="1270010"/>
            <a:ext cx="13351395" cy="606425"/>
          </a:xfrm>
          <a:prstGeom prst="rect">
            <a:avLst/>
          </a:prstGeom>
        </p:spPr>
        <p:txBody>
          <a:bodyPr anchor="t" rtlCol="false" tIns="0" lIns="0" bIns="0" rIns="0">
            <a:spAutoFit/>
          </a:bodyPr>
          <a:lstStyle/>
          <a:p>
            <a:pPr algn="l">
              <a:lnSpc>
                <a:spcPts val="4900"/>
              </a:lnSpc>
            </a:pPr>
            <a:r>
              <a:rPr lang="en-US" sz="3500">
                <a:solidFill>
                  <a:srgbClr val="FFFFFF"/>
                </a:solidFill>
                <a:latin typeface="Press Start 2P"/>
                <a:ea typeface="Press Start 2P"/>
                <a:cs typeface="Press Start 2P"/>
                <a:sym typeface="Press Start 2P"/>
              </a:rPr>
              <a:t>WHY WE CHOSE THIS STRATEGY</a:t>
            </a:r>
          </a:p>
        </p:txBody>
      </p:sp>
      <p:sp>
        <p:nvSpPr>
          <p:cNvPr name="TextBox 6" id="6"/>
          <p:cNvSpPr txBox="true"/>
          <p:nvPr/>
        </p:nvSpPr>
        <p:spPr>
          <a:xfrm rot="0">
            <a:off x="3082893" y="4679100"/>
            <a:ext cx="4812623" cy="1098887"/>
          </a:xfrm>
          <a:prstGeom prst="rect">
            <a:avLst/>
          </a:prstGeom>
        </p:spPr>
        <p:txBody>
          <a:bodyPr anchor="t" rtlCol="false" tIns="0" lIns="0" bIns="0" rIns="0">
            <a:spAutoFit/>
          </a:bodyPr>
          <a:lstStyle/>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Build a roguelite</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Include TCG card mechanics</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Use a database</a:t>
            </a:r>
          </a:p>
        </p:txBody>
      </p:sp>
      <p:sp>
        <p:nvSpPr>
          <p:cNvPr name="TextBox 7" id="7"/>
          <p:cNvSpPr txBox="true"/>
          <p:nvPr/>
        </p:nvSpPr>
        <p:spPr>
          <a:xfrm rot="0">
            <a:off x="2953085" y="3158908"/>
            <a:ext cx="5072239" cy="1254927"/>
          </a:xfrm>
          <a:prstGeom prst="rect">
            <a:avLst/>
          </a:prstGeom>
        </p:spPr>
        <p:txBody>
          <a:bodyPr anchor="t" rtlCol="false" tIns="0" lIns="0" bIns="0" rIns="0">
            <a:spAutoFit/>
          </a:bodyPr>
          <a:lstStyle/>
          <a:p>
            <a:pPr algn="ctr" marL="0" indent="0" lvl="0">
              <a:lnSpc>
                <a:spcPts val="5057"/>
              </a:lnSpc>
              <a:spcBef>
                <a:spcPct val="0"/>
              </a:spcBef>
            </a:pPr>
            <a:r>
              <a:rPr lang="en-US" sz="3612">
                <a:solidFill>
                  <a:srgbClr val="C1FF72"/>
                </a:solidFill>
                <a:latin typeface="Press Start 2P"/>
                <a:ea typeface="Press Start 2P"/>
                <a:cs typeface="Press Start 2P"/>
                <a:sym typeface="Press Start 2P"/>
              </a:rPr>
              <a:t>WHAT WAS REQUIRED</a:t>
            </a:r>
          </a:p>
        </p:txBody>
      </p:sp>
      <p:sp>
        <p:nvSpPr>
          <p:cNvPr name="TextBox 8" id="8"/>
          <p:cNvSpPr txBox="true"/>
          <p:nvPr/>
        </p:nvSpPr>
        <p:spPr>
          <a:xfrm rot="0">
            <a:off x="10392484" y="4591150"/>
            <a:ext cx="4812623" cy="1841837"/>
          </a:xfrm>
          <a:prstGeom prst="rect">
            <a:avLst/>
          </a:prstGeom>
        </p:spPr>
        <p:txBody>
          <a:bodyPr anchor="t" rtlCol="false" tIns="0" lIns="0" bIns="0" rIns="0">
            <a:spAutoFit/>
          </a:bodyPr>
          <a:lstStyle/>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Burn and replace card mechanic</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Persistent mosquito currency</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Platformer</a:t>
            </a:r>
          </a:p>
        </p:txBody>
      </p:sp>
      <p:sp>
        <p:nvSpPr>
          <p:cNvPr name="TextBox 9" id="9"/>
          <p:cNvSpPr txBox="true"/>
          <p:nvPr/>
        </p:nvSpPr>
        <p:spPr>
          <a:xfrm rot="0">
            <a:off x="10262676" y="3070958"/>
            <a:ext cx="5072239" cy="1254927"/>
          </a:xfrm>
          <a:prstGeom prst="rect">
            <a:avLst/>
          </a:prstGeom>
        </p:spPr>
        <p:txBody>
          <a:bodyPr anchor="t" rtlCol="false" tIns="0" lIns="0" bIns="0" rIns="0">
            <a:spAutoFit/>
          </a:bodyPr>
          <a:lstStyle/>
          <a:p>
            <a:pPr algn="ctr" marL="0" indent="0" lvl="0">
              <a:lnSpc>
                <a:spcPts val="5057"/>
              </a:lnSpc>
              <a:spcBef>
                <a:spcPct val="0"/>
              </a:spcBef>
            </a:pPr>
            <a:r>
              <a:rPr lang="en-US" sz="3612">
                <a:solidFill>
                  <a:srgbClr val="C1FF72"/>
                </a:solidFill>
                <a:latin typeface="Press Start 2P"/>
                <a:ea typeface="Press Start 2P"/>
                <a:cs typeface="Press Start 2P"/>
                <a:sym typeface="Press Start 2P"/>
              </a:rPr>
              <a:t>WHAT WE DECIDED</a:t>
            </a:r>
          </a:p>
        </p:txBody>
      </p:sp>
      <p:sp>
        <p:nvSpPr>
          <p:cNvPr name="TextBox 10" id="10"/>
          <p:cNvSpPr txBox="true"/>
          <p:nvPr/>
        </p:nvSpPr>
        <p:spPr>
          <a:xfrm rot="0">
            <a:off x="2525957" y="6613962"/>
            <a:ext cx="13236086" cy="2213312"/>
          </a:xfrm>
          <a:prstGeom prst="rect">
            <a:avLst/>
          </a:prstGeom>
        </p:spPr>
        <p:txBody>
          <a:bodyPr anchor="t" rtlCol="false" tIns="0" lIns="0" bIns="0" rIns="0">
            <a:spAutoFit/>
          </a:bodyPr>
          <a:lstStyle/>
          <a:p>
            <a:pPr algn="ctr">
              <a:lnSpc>
                <a:spcPts val="2956"/>
              </a:lnSpc>
            </a:pPr>
          </a:p>
          <a:p>
            <a:pPr algn="ctr">
              <a:lnSpc>
                <a:spcPts val="2956"/>
              </a:lnSpc>
            </a:pPr>
          </a:p>
          <a:p>
            <a:pPr algn="ctr">
              <a:lnSpc>
                <a:spcPts val="2956"/>
              </a:lnSpc>
            </a:pPr>
            <a:r>
              <a:rPr lang="en-US" sz="2111">
                <a:solidFill>
                  <a:srgbClr val="FFFFFF"/>
                </a:solidFill>
                <a:latin typeface="JetBrains Mono"/>
                <a:ea typeface="JetBrains Mono"/>
                <a:cs typeface="JetBrains Mono"/>
                <a:sym typeface="JetBrains Mono"/>
              </a:rPr>
              <a:t>We created a roguelite TCG platformer to combine action and strategy in one game. Each run feels different, and players build their playstyle through cards. The card selection screen we implemented lets players choose their deck, and the burn-and-replace system adds strategy by allowing them to replace unwanted cards.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57771" y="484456"/>
            <a:ext cx="915543" cy="4114800"/>
          </a:xfrm>
          <a:custGeom>
            <a:avLst/>
            <a:gdLst/>
            <a:ahLst/>
            <a:cxnLst/>
            <a:rect r="r" b="b" t="t" l="l"/>
            <a:pathLst>
              <a:path h="4114800" w="915543">
                <a:moveTo>
                  <a:pt x="0" y="0"/>
                </a:moveTo>
                <a:lnTo>
                  <a:pt x="915543" y="0"/>
                </a:lnTo>
                <a:lnTo>
                  <a:pt x="91554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400000">
            <a:off x="16138165" y="8110361"/>
            <a:ext cx="1150809" cy="2295877"/>
          </a:xfrm>
          <a:custGeom>
            <a:avLst/>
            <a:gdLst/>
            <a:ahLst/>
            <a:cxnLst/>
            <a:rect r="r" b="b" t="t" l="l"/>
            <a:pathLst>
              <a:path h="2295877" w="1150809">
                <a:moveTo>
                  <a:pt x="0" y="0"/>
                </a:moveTo>
                <a:lnTo>
                  <a:pt x="1150809" y="0"/>
                </a:lnTo>
                <a:lnTo>
                  <a:pt x="1150809" y="2295878"/>
                </a:lnTo>
                <a:lnTo>
                  <a:pt x="0" y="22958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6713569" y="4785310"/>
            <a:ext cx="2616002" cy="1255681"/>
          </a:xfrm>
          <a:custGeom>
            <a:avLst/>
            <a:gdLst/>
            <a:ahLst/>
            <a:cxnLst/>
            <a:rect r="r" b="b" t="t" l="l"/>
            <a:pathLst>
              <a:path h="1255681" w="2616002">
                <a:moveTo>
                  <a:pt x="0" y="0"/>
                </a:moveTo>
                <a:lnTo>
                  <a:pt x="2616002" y="0"/>
                </a:lnTo>
                <a:lnTo>
                  <a:pt x="2616002" y="1255681"/>
                </a:lnTo>
                <a:lnTo>
                  <a:pt x="0" y="12556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3371071" y="687388"/>
            <a:ext cx="11545858" cy="606425"/>
          </a:xfrm>
          <a:prstGeom prst="rect">
            <a:avLst/>
          </a:prstGeom>
        </p:spPr>
        <p:txBody>
          <a:bodyPr anchor="t" rtlCol="false" tIns="0" lIns="0" bIns="0" rIns="0">
            <a:spAutoFit/>
          </a:bodyPr>
          <a:lstStyle/>
          <a:p>
            <a:pPr algn="ctr">
              <a:lnSpc>
                <a:spcPts val="4900"/>
              </a:lnSpc>
            </a:pPr>
            <a:r>
              <a:rPr lang="en-US" sz="3500">
                <a:solidFill>
                  <a:srgbClr val="FFFFFF"/>
                </a:solidFill>
                <a:latin typeface="Press Start 2P"/>
                <a:ea typeface="Press Start 2P"/>
                <a:cs typeface="Press Start 2P"/>
                <a:sym typeface="Press Start 2P"/>
              </a:rPr>
              <a:t>CHALLENGES WE FACED</a:t>
            </a:r>
          </a:p>
        </p:txBody>
      </p:sp>
      <p:sp>
        <p:nvSpPr>
          <p:cNvPr name="TextBox 6" id="6"/>
          <p:cNvSpPr txBox="true"/>
          <p:nvPr/>
        </p:nvSpPr>
        <p:spPr>
          <a:xfrm rot="0">
            <a:off x="10829308" y="1877995"/>
            <a:ext cx="4543806" cy="1866900"/>
          </a:xfrm>
          <a:prstGeom prst="rect">
            <a:avLst/>
          </a:prstGeom>
        </p:spPr>
        <p:txBody>
          <a:bodyPr anchor="t" rtlCol="false" tIns="0" lIns="0" bIns="0" rIns="0">
            <a:spAutoFit/>
          </a:bodyPr>
          <a:lstStyle/>
          <a:p>
            <a:pPr algn="just">
              <a:lnSpc>
                <a:spcPts val="2100"/>
              </a:lnSpc>
            </a:pPr>
            <a:r>
              <a:rPr lang="en-US" sz="1500">
                <a:solidFill>
                  <a:srgbClr val="090D0F"/>
                </a:solidFill>
                <a:latin typeface="JetBrains Mono"/>
                <a:ea typeface="JetBrains Mono"/>
                <a:cs typeface="JetBrains Mono"/>
                <a:sym typeface="JetBrains Mono"/>
              </a:rPr>
              <a:t>El contraste entre exploración tranquila y combate intenso crea ritmo emocional.</a:t>
            </a:r>
          </a:p>
          <a:p>
            <a:pPr algn="just">
              <a:lnSpc>
                <a:spcPts val="2100"/>
              </a:lnSpc>
            </a:pPr>
          </a:p>
          <a:p>
            <a:pPr algn="just">
              <a:lnSpc>
                <a:spcPts val="2100"/>
              </a:lnSpc>
              <a:spcBef>
                <a:spcPct val="0"/>
              </a:spcBef>
            </a:pPr>
            <a:r>
              <a:rPr lang="en-US" sz="1500">
                <a:solidFill>
                  <a:srgbClr val="090D0F"/>
                </a:solidFill>
                <a:latin typeface="JetBrains Mono"/>
                <a:ea typeface="JetBrains Mono"/>
                <a:cs typeface="JetBrains Mono"/>
                <a:sym typeface="JetBrains Mono"/>
              </a:rPr>
              <a:t>La progresión esta basada en aprendizaje y mejora estratégica, no solo reflejos o movimientos aleatorios.</a:t>
            </a:r>
          </a:p>
        </p:txBody>
      </p:sp>
      <p:grpSp>
        <p:nvGrpSpPr>
          <p:cNvPr name="Group 7" id="7"/>
          <p:cNvGrpSpPr/>
          <p:nvPr/>
        </p:nvGrpSpPr>
        <p:grpSpPr>
          <a:xfrm rot="0">
            <a:off x="3062910" y="1820800"/>
            <a:ext cx="12162180" cy="8012904"/>
            <a:chOff x="0" y="0"/>
            <a:chExt cx="16216240" cy="10683872"/>
          </a:xfrm>
        </p:grpSpPr>
        <p:grpSp>
          <p:nvGrpSpPr>
            <p:cNvPr name="Group 8" id="8"/>
            <p:cNvGrpSpPr/>
            <p:nvPr/>
          </p:nvGrpSpPr>
          <p:grpSpPr>
            <a:xfrm rot="0">
              <a:off x="0" y="0"/>
              <a:ext cx="7869748" cy="5152644"/>
              <a:chOff x="0" y="0"/>
              <a:chExt cx="1644215" cy="1076534"/>
            </a:xfrm>
          </p:grpSpPr>
          <p:sp>
            <p:nvSpPr>
              <p:cNvPr name="Freeform 9" id="9"/>
              <p:cNvSpPr/>
              <p:nvPr/>
            </p:nvSpPr>
            <p:spPr>
              <a:xfrm flipH="false" flipV="false" rot="0">
                <a:off x="0" y="0"/>
                <a:ext cx="1644215" cy="1076534"/>
              </a:xfrm>
              <a:custGeom>
                <a:avLst/>
                <a:gdLst/>
                <a:ahLst/>
                <a:cxnLst/>
                <a:rect r="r" b="b" t="t" l="l"/>
                <a:pathLst>
                  <a:path h="1076534" w="1644215">
                    <a:moveTo>
                      <a:pt x="66895" y="0"/>
                    </a:moveTo>
                    <a:lnTo>
                      <a:pt x="1577320" y="0"/>
                    </a:lnTo>
                    <a:cubicBezTo>
                      <a:pt x="1595061" y="0"/>
                      <a:pt x="1612077" y="7048"/>
                      <a:pt x="1624622" y="19593"/>
                    </a:cubicBezTo>
                    <a:cubicBezTo>
                      <a:pt x="1637167" y="32139"/>
                      <a:pt x="1644215" y="49154"/>
                      <a:pt x="1644215" y="66895"/>
                    </a:cubicBezTo>
                    <a:lnTo>
                      <a:pt x="1644215" y="1009639"/>
                    </a:lnTo>
                    <a:cubicBezTo>
                      <a:pt x="1644215" y="1046584"/>
                      <a:pt x="1614265" y="1076534"/>
                      <a:pt x="1577320" y="1076534"/>
                    </a:cubicBezTo>
                    <a:lnTo>
                      <a:pt x="66895" y="1076534"/>
                    </a:lnTo>
                    <a:cubicBezTo>
                      <a:pt x="49154" y="1076534"/>
                      <a:pt x="32139" y="1069486"/>
                      <a:pt x="19593" y="1056941"/>
                    </a:cubicBezTo>
                    <a:cubicBezTo>
                      <a:pt x="7048" y="1044396"/>
                      <a:pt x="0" y="1027381"/>
                      <a:pt x="0" y="1009639"/>
                    </a:cubicBezTo>
                    <a:lnTo>
                      <a:pt x="0" y="66895"/>
                    </a:lnTo>
                    <a:cubicBezTo>
                      <a:pt x="0" y="29950"/>
                      <a:pt x="29950" y="0"/>
                      <a:pt x="66895" y="0"/>
                    </a:cubicBezTo>
                    <a:close/>
                  </a:path>
                </a:pathLst>
              </a:custGeom>
              <a:solidFill>
                <a:srgbClr val="C1FF72"/>
              </a:solidFill>
              <a:ln w="161925" cap="rnd">
                <a:solidFill>
                  <a:srgbClr val="FFFFFF"/>
                </a:solidFill>
                <a:prstDash val="solid"/>
                <a:round/>
              </a:ln>
            </p:spPr>
          </p:sp>
          <p:sp>
            <p:nvSpPr>
              <p:cNvPr name="TextBox 10" id="10"/>
              <p:cNvSpPr txBox="true"/>
              <p:nvPr/>
            </p:nvSpPr>
            <p:spPr>
              <a:xfrm>
                <a:off x="0" y="-38100"/>
                <a:ext cx="1644215" cy="1114634"/>
              </a:xfrm>
              <a:prstGeom prst="rect">
                <a:avLst/>
              </a:prstGeom>
            </p:spPr>
            <p:txBody>
              <a:bodyPr anchor="ctr" rtlCol="false" tIns="50800" lIns="50800" bIns="50800" rIns="50800"/>
              <a:lstStyle/>
              <a:p>
                <a:pPr algn="just">
                  <a:lnSpc>
                    <a:spcPts val="2520"/>
                  </a:lnSpc>
                </a:pPr>
                <a:r>
                  <a:rPr lang="en-US" sz="1800" b="true">
                    <a:solidFill>
                      <a:srgbClr val="000000"/>
                    </a:solidFill>
                    <a:latin typeface="JetBrains Mono Bold"/>
                    <a:ea typeface="JetBrains Mono Bold"/>
                    <a:cs typeface="JetBrains Mono Bold"/>
                    <a:sym typeface="JetBrains Mono Bold"/>
                  </a:rPr>
                  <a:t>DATA PERSISTENCE + API</a:t>
                </a:r>
              </a:p>
              <a:p>
                <a:pPr algn="just">
                  <a:lnSpc>
                    <a:spcPts val="2520"/>
                  </a:lnSpc>
                </a:pPr>
              </a:p>
              <a:p>
                <a:pPr algn="just">
                  <a:lnSpc>
                    <a:spcPts val="2520"/>
                  </a:lnSpc>
                </a:pPr>
                <a:r>
                  <a:rPr lang="en-US" sz="1800" b="true">
                    <a:solidFill>
                      <a:srgbClr val="000000"/>
                    </a:solidFill>
                    <a:latin typeface="JetBrains Mono Bold"/>
                    <a:ea typeface="JetBrains Mono Bold"/>
                    <a:cs typeface="JetBrains Mono Bold"/>
                    <a:sym typeface="JetBrains Mono Bold"/>
                  </a:rPr>
                  <a:t>Problem: cards and mosquitoes had to persist across runs, cards burn on activation but survive death if unused, implementation was a struggle at first.</a:t>
                </a:r>
              </a:p>
              <a:p>
                <a:pPr algn="just">
                  <a:lnSpc>
                    <a:spcPts val="2520"/>
                  </a:lnSpc>
                </a:pPr>
              </a:p>
              <a:p>
                <a:pPr algn="just">
                  <a:lnSpc>
                    <a:spcPts val="2520"/>
                  </a:lnSpc>
                </a:pPr>
                <a:r>
                  <a:rPr lang="en-US" sz="1800" b="true">
                    <a:solidFill>
                      <a:srgbClr val="000000"/>
                    </a:solidFill>
                    <a:latin typeface="JetBrains Mono Bold"/>
                    <a:ea typeface="JetBrains Mono Bold"/>
                    <a:cs typeface="JetBrains Mono Bold"/>
                    <a:sym typeface="JetBrains Mono Bold"/>
                  </a:rPr>
                  <a:t>Solution: use of views for mysql</a:t>
                </a:r>
              </a:p>
              <a:p>
                <a:pPr algn="just">
                  <a:lnSpc>
                    <a:spcPts val="2520"/>
                  </a:lnSpc>
                </a:pPr>
              </a:p>
            </p:txBody>
          </p:sp>
        </p:grpSp>
        <p:grpSp>
          <p:nvGrpSpPr>
            <p:cNvPr name="Group 11" id="11"/>
            <p:cNvGrpSpPr/>
            <p:nvPr/>
          </p:nvGrpSpPr>
          <p:grpSpPr>
            <a:xfrm rot="0">
              <a:off x="8346491" y="0"/>
              <a:ext cx="7869748" cy="5152644"/>
              <a:chOff x="0" y="0"/>
              <a:chExt cx="1644215" cy="1076534"/>
            </a:xfrm>
          </p:grpSpPr>
          <p:sp>
            <p:nvSpPr>
              <p:cNvPr name="Freeform 12" id="12"/>
              <p:cNvSpPr/>
              <p:nvPr/>
            </p:nvSpPr>
            <p:spPr>
              <a:xfrm flipH="false" flipV="false" rot="0">
                <a:off x="0" y="0"/>
                <a:ext cx="1644215" cy="1076534"/>
              </a:xfrm>
              <a:custGeom>
                <a:avLst/>
                <a:gdLst/>
                <a:ahLst/>
                <a:cxnLst/>
                <a:rect r="r" b="b" t="t" l="l"/>
                <a:pathLst>
                  <a:path h="1076534" w="1644215">
                    <a:moveTo>
                      <a:pt x="66895" y="0"/>
                    </a:moveTo>
                    <a:lnTo>
                      <a:pt x="1577320" y="0"/>
                    </a:lnTo>
                    <a:cubicBezTo>
                      <a:pt x="1595061" y="0"/>
                      <a:pt x="1612077" y="7048"/>
                      <a:pt x="1624622" y="19593"/>
                    </a:cubicBezTo>
                    <a:cubicBezTo>
                      <a:pt x="1637167" y="32139"/>
                      <a:pt x="1644215" y="49154"/>
                      <a:pt x="1644215" y="66895"/>
                    </a:cubicBezTo>
                    <a:lnTo>
                      <a:pt x="1644215" y="1009639"/>
                    </a:lnTo>
                    <a:cubicBezTo>
                      <a:pt x="1644215" y="1046584"/>
                      <a:pt x="1614265" y="1076534"/>
                      <a:pt x="1577320" y="1076534"/>
                    </a:cubicBezTo>
                    <a:lnTo>
                      <a:pt x="66895" y="1076534"/>
                    </a:lnTo>
                    <a:cubicBezTo>
                      <a:pt x="49154" y="1076534"/>
                      <a:pt x="32139" y="1069486"/>
                      <a:pt x="19593" y="1056941"/>
                    </a:cubicBezTo>
                    <a:cubicBezTo>
                      <a:pt x="7048" y="1044396"/>
                      <a:pt x="0" y="1027381"/>
                      <a:pt x="0" y="1009639"/>
                    </a:cubicBezTo>
                    <a:lnTo>
                      <a:pt x="0" y="66895"/>
                    </a:lnTo>
                    <a:cubicBezTo>
                      <a:pt x="0" y="29950"/>
                      <a:pt x="29950" y="0"/>
                      <a:pt x="66895" y="0"/>
                    </a:cubicBezTo>
                    <a:close/>
                  </a:path>
                </a:pathLst>
              </a:custGeom>
              <a:solidFill>
                <a:srgbClr val="C1FF72"/>
              </a:solidFill>
              <a:ln w="161925" cap="rnd">
                <a:solidFill>
                  <a:srgbClr val="FFFFFF"/>
                </a:solidFill>
                <a:prstDash val="solid"/>
                <a:round/>
              </a:ln>
            </p:spPr>
          </p:sp>
          <p:sp>
            <p:nvSpPr>
              <p:cNvPr name="TextBox 13" id="13"/>
              <p:cNvSpPr txBox="true"/>
              <p:nvPr/>
            </p:nvSpPr>
            <p:spPr>
              <a:xfrm>
                <a:off x="0" y="-38100"/>
                <a:ext cx="1644215" cy="1114634"/>
              </a:xfrm>
              <a:prstGeom prst="rect">
                <a:avLst/>
              </a:prstGeom>
            </p:spPr>
            <p:txBody>
              <a:bodyPr anchor="ctr" rtlCol="false" tIns="50800" lIns="50800" bIns="50800" rIns="50800"/>
              <a:lstStyle/>
              <a:p>
                <a:pPr algn="just">
                  <a:lnSpc>
                    <a:spcPts val="2520"/>
                  </a:lnSpc>
                </a:pPr>
                <a:r>
                  <a:rPr lang="en-US" sz="1800" b="true">
                    <a:solidFill>
                      <a:srgbClr val="000000"/>
                    </a:solidFill>
                    <a:latin typeface="JetBrains Mono Bold"/>
                    <a:ea typeface="JetBrains Mono Bold"/>
                    <a:cs typeface="JetBrains Mono Bold"/>
                    <a:sym typeface="JetBrains Mono Bold"/>
                  </a:rPr>
                  <a:t>MySQL CONFIGURATION</a:t>
                </a:r>
              </a:p>
              <a:p>
                <a:pPr algn="just">
                  <a:lnSpc>
                    <a:spcPts val="2520"/>
                  </a:lnSpc>
                </a:pPr>
              </a:p>
              <a:p>
                <a:pPr algn="just">
                  <a:lnSpc>
                    <a:spcPts val="2520"/>
                  </a:lnSpc>
                </a:pPr>
                <a:r>
                  <a:rPr lang="en-US" sz="1800" b="true">
                    <a:solidFill>
                      <a:srgbClr val="000000"/>
                    </a:solidFill>
                    <a:latin typeface="JetBrains Mono Bold"/>
                    <a:ea typeface="JetBrains Mono Bold"/>
                    <a:cs typeface="JetBrains Mono Bold"/>
                    <a:sym typeface="JetBrains Mono Bold"/>
                  </a:rPr>
                  <a:t>Problem: 2 of the teammates kept having issues with the MySQL configuration, leading to errors, delays with the backend, etc.</a:t>
                </a:r>
              </a:p>
              <a:p>
                <a:pPr algn="just">
                  <a:lnSpc>
                    <a:spcPts val="2520"/>
                  </a:lnSpc>
                </a:pPr>
              </a:p>
              <a:p>
                <a:pPr algn="just">
                  <a:lnSpc>
                    <a:spcPts val="2520"/>
                  </a:lnSpc>
                </a:pPr>
                <a:r>
                  <a:rPr lang="en-US" b="true" sz="1800">
                    <a:solidFill>
                      <a:srgbClr val="000000"/>
                    </a:solidFill>
                    <a:latin typeface="JetBrains Mono Bold"/>
                    <a:ea typeface="JetBrains Mono Bold"/>
                    <a:cs typeface="JetBrains Mono Bold"/>
                    <a:sym typeface="JetBrains Mono Bold"/>
                  </a:rPr>
                  <a:t>Solution: use of mysql workbench community</a:t>
                </a:r>
              </a:p>
            </p:txBody>
          </p:sp>
        </p:grpSp>
        <p:grpSp>
          <p:nvGrpSpPr>
            <p:cNvPr name="Group 14" id="14"/>
            <p:cNvGrpSpPr/>
            <p:nvPr/>
          </p:nvGrpSpPr>
          <p:grpSpPr>
            <a:xfrm rot="0">
              <a:off x="0" y="5531228"/>
              <a:ext cx="7869748" cy="5152644"/>
              <a:chOff x="0" y="0"/>
              <a:chExt cx="1644215" cy="1076534"/>
            </a:xfrm>
          </p:grpSpPr>
          <p:sp>
            <p:nvSpPr>
              <p:cNvPr name="Freeform 15" id="15"/>
              <p:cNvSpPr/>
              <p:nvPr/>
            </p:nvSpPr>
            <p:spPr>
              <a:xfrm flipH="false" flipV="false" rot="0">
                <a:off x="0" y="0"/>
                <a:ext cx="1644215" cy="1076534"/>
              </a:xfrm>
              <a:custGeom>
                <a:avLst/>
                <a:gdLst/>
                <a:ahLst/>
                <a:cxnLst/>
                <a:rect r="r" b="b" t="t" l="l"/>
                <a:pathLst>
                  <a:path h="1076534" w="1644215">
                    <a:moveTo>
                      <a:pt x="66895" y="0"/>
                    </a:moveTo>
                    <a:lnTo>
                      <a:pt x="1577320" y="0"/>
                    </a:lnTo>
                    <a:cubicBezTo>
                      <a:pt x="1595061" y="0"/>
                      <a:pt x="1612077" y="7048"/>
                      <a:pt x="1624622" y="19593"/>
                    </a:cubicBezTo>
                    <a:cubicBezTo>
                      <a:pt x="1637167" y="32139"/>
                      <a:pt x="1644215" y="49154"/>
                      <a:pt x="1644215" y="66895"/>
                    </a:cubicBezTo>
                    <a:lnTo>
                      <a:pt x="1644215" y="1009639"/>
                    </a:lnTo>
                    <a:cubicBezTo>
                      <a:pt x="1644215" y="1046584"/>
                      <a:pt x="1614265" y="1076534"/>
                      <a:pt x="1577320" y="1076534"/>
                    </a:cubicBezTo>
                    <a:lnTo>
                      <a:pt x="66895" y="1076534"/>
                    </a:lnTo>
                    <a:cubicBezTo>
                      <a:pt x="49154" y="1076534"/>
                      <a:pt x="32139" y="1069486"/>
                      <a:pt x="19593" y="1056941"/>
                    </a:cubicBezTo>
                    <a:cubicBezTo>
                      <a:pt x="7048" y="1044396"/>
                      <a:pt x="0" y="1027381"/>
                      <a:pt x="0" y="1009639"/>
                    </a:cubicBezTo>
                    <a:lnTo>
                      <a:pt x="0" y="66895"/>
                    </a:lnTo>
                    <a:cubicBezTo>
                      <a:pt x="0" y="29950"/>
                      <a:pt x="29950" y="0"/>
                      <a:pt x="66895" y="0"/>
                    </a:cubicBezTo>
                    <a:close/>
                  </a:path>
                </a:pathLst>
              </a:custGeom>
              <a:solidFill>
                <a:srgbClr val="C1FF72"/>
              </a:solidFill>
              <a:ln w="161925" cap="rnd">
                <a:solidFill>
                  <a:srgbClr val="FFFFFF"/>
                </a:solidFill>
                <a:prstDash val="solid"/>
                <a:round/>
              </a:ln>
            </p:spPr>
          </p:sp>
          <p:sp>
            <p:nvSpPr>
              <p:cNvPr name="TextBox 16" id="16"/>
              <p:cNvSpPr txBox="true"/>
              <p:nvPr/>
            </p:nvSpPr>
            <p:spPr>
              <a:xfrm>
                <a:off x="0" y="-38100"/>
                <a:ext cx="1644215" cy="1114634"/>
              </a:xfrm>
              <a:prstGeom prst="rect">
                <a:avLst/>
              </a:prstGeom>
            </p:spPr>
            <p:txBody>
              <a:bodyPr anchor="ctr" rtlCol="false" tIns="50800" lIns="50800" bIns="50800" rIns="50800"/>
              <a:lstStyle/>
              <a:p>
                <a:pPr algn="just">
                  <a:lnSpc>
                    <a:spcPts val="2520"/>
                  </a:lnSpc>
                </a:pPr>
                <a:r>
                  <a:rPr lang="en-US" sz="1800" b="true">
                    <a:solidFill>
                      <a:srgbClr val="000000"/>
                    </a:solidFill>
                    <a:latin typeface="JetBrains Mono Bold"/>
                    <a:ea typeface="JetBrains Mono Bold"/>
                    <a:cs typeface="JetBrains Mono Bold"/>
                    <a:sym typeface="JetBrains Mono Bold"/>
                  </a:rPr>
                  <a:t>DIFFERENT SCHEDULES &amp; AVAILABILITY</a:t>
                </a:r>
              </a:p>
              <a:p>
                <a:pPr algn="just">
                  <a:lnSpc>
                    <a:spcPts val="2520"/>
                  </a:lnSpc>
                </a:pPr>
              </a:p>
              <a:p>
                <a:pPr algn="just">
                  <a:lnSpc>
                    <a:spcPts val="2520"/>
                  </a:lnSpc>
                </a:pPr>
                <a:r>
                  <a:rPr lang="en-US" sz="1800" b="true">
                    <a:solidFill>
                      <a:srgbClr val="000000"/>
                    </a:solidFill>
                    <a:latin typeface="JetBrains Mono Bold"/>
                    <a:ea typeface="JetBrains Mono Bold"/>
                    <a:cs typeface="JetBrains Mono Bold"/>
                    <a:sym typeface="JetBrains Mono Bold"/>
                  </a:rPr>
                  <a:t>Problem: the 3 of us had different schedules throughout the day, specially in the afternoon, which made organization difficult at first but we managed to adapt and find time for team work.</a:t>
                </a:r>
              </a:p>
              <a:p>
                <a:pPr algn="just">
                  <a:lnSpc>
                    <a:spcPts val="2520"/>
                  </a:lnSpc>
                </a:pPr>
              </a:p>
              <a:p>
                <a:pPr algn="just">
                  <a:lnSpc>
                    <a:spcPts val="2520"/>
                  </a:lnSpc>
                </a:pPr>
                <a:r>
                  <a:rPr lang="en-US" b="true" sz="1800">
                    <a:solidFill>
                      <a:srgbClr val="000000"/>
                    </a:solidFill>
                    <a:latin typeface="JetBrains Mono Bold"/>
                    <a:ea typeface="JetBrains Mono Bold"/>
                    <a:cs typeface="JetBrains Mono Bold"/>
                    <a:sym typeface="JetBrains Mono Bold"/>
                  </a:rPr>
                  <a:t>Solution: Microsoft Teams calls on weekends, weekdays, etc.</a:t>
                </a:r>
              </a:p>
            </p:txBody>
          </p:sp>
        </p:grpSp>
        <p:grpSp>
          <p:nvGrpSpPr>
            <p:cNvPr name="Group 17" id="17"/>
            <p:cNvGrpSpPr/>
            <p:nvPr/>
          </p:nvGrpSpPr>
          <p:grpSpPr>
            <a:xfrm rot="0">
              <a:off x="8346491" y="5531228"/>
              <a:ext cx="7869748" cy="5152644"/>
              <a:chOff x="0" y="0"/>
              <a:chExt cx="1644215" cy="1076534"/>
            </a:xfrm>
          </p:grpSpPr>
          <p:sp>
            <p:nvSpPr>
              <p:cNvPr name="Freeform 18" id="18"/>
              <p:cNvSpPr/>
              <p:nvPr/>
            </p:nvSpPr>
            <p:spPr>
              <a:xfrm flipH="false" flipV="false" rot="0">
                <a:off x="0" y="0"/>
                <a:ext cx="1644215" cy="1076534"/>
              </a:xfrm>
              <a:custGeom>
                <a:avLst/>
                <a:gdLst/>
                <a:ahLst/>
                <a:cxnLst/>
                <a:rect r="r" b="b" t="t" l="l"/>
                <a:pathLst>
                  <a:path h="1076534" w="1644215">
                    <a:moveTo>
                      <a:pt x="66895" y="0"/>
                    </a:moveTo>
                    <a:lnTo>
                      <a:pt x="1577320" y="0"/>
                    </a:lnTo>
                    <a:cubicBezTo>
                      <a:pt x="1595061" y="0"/>
                      <a:pt x="1612077" y="7048"/>
                      <a:pt x="1624622" y="19593"/>
                    </a:cubicBezTo>
                    <a:cubicBezTo>
                      <a:pt x="1637167" y="32139"/>
                      <a:pt x="1644215" y="49154"/>
                      <a:pt x="1644215" y="66895"/>
                    </a:cubicBezTo>
                    <a:lnTo>
                      <a:pt x="1644215" y="1009639"/>
                    </a:lnTo>
                    <a:cubicBezTo>
                      <a:pt x="1644215" y="1046584"/>
                      <a:pt x="1614265" y="1076534"/>
                      <a:pt x="1577320" y="1076534"/>
                    </a:cubicBezTo>
                    <a:lnTo>
                      <a:pt x="66895" y="1076534"/>
                    </a:lnTo>
                    <a:cubicBezTo>
                      <a:pt x="49154" y="1076534"/>
                      <a:pt x="32139" y="1069486"/>
                      <a:pt x="19593" y="1056941"/>
                    </a:cubicBezTo>
                    <a:cubicBezTo>
                      <a:pt x="7048" y="1044396"/>
                      <a:pt x="0" y="1027381"/>
                      <a:pt x="0" y="1009639"/>
                    </a:cubicBezTo>
                    <a:lnTo>
                      <a:pt x="0" y="66895"/>
                    </a:lnTo>
                    <a:cubicBezTo>
                      <a:pt x="0" y="29950"/>
                      <a:pt x="29950" y="0"/>
                      <a:pt x="66895" y="0"/>
                    </a:cubicBezTo>
                    <a:close/>
                  </a:path>
                </a:pathLst>
              </a:custGeom>
              <a:solidFill>
                <a:srgbClr val="C1FF72"/>
              </a:solidFill>
              <a:ln w="161925" cap="rnd">
                <a:solidFill>
                  <a:srgbClr val="FFFFFF"/>
                </a:solidFill>
                <a:prstDash val="solid"/>
                <a:round/>
              </a:ln>
            </p:spPr>
          </p:sp>
          <p:sp>
            <p:nvSpPr>
              <p:cNvPr name="TextBox 19" id="19"/>
              <p:cNvSpPr txBox="true"/>
              <p:nvPr/>
            </p:nvSpPr>
            <p:spPr>
              <a:xfrm>
                <a:off x="0" y="-38100"/>
                <a:ext cx="1644215" cy="1114634"/>
              </a:xfrm>
              <a:prstGeom prst="rect">
                <a:avLst/>
              </a:prstGeom>
            </p:spPr>
            <p:txBody>
              <a:bodyPr anchor="ctr" rtlCol="false" tIns="50800" lIns="50800" bIns="50800" rIns="50800"/>
              <a:lstStyle/>
              <a:p>
                <a:pPr algn="just">
                  <a:lnSpc>
                    <a:spcPts val="2520"/>
                  </a:lnSpc>
                </a:pPr>
                <a:r>
                  <a:rPr lang="en-US" sz="1800" b="true">
                    <a:solidFill>
                      <a:srgbClr val="000000"/>
                    </a:solidFill>
                    <a:latin typeface="JetBrains Mono Bold"/>
                    <a:ea typeface="JetBrains Mono Bold"/>
                    <a:cs typeface="JetBrains Mono Bold"/>
                    <a:sym typeface="JetBrains Mono Bold"/>
                  </a:rPr>
                  <a:t>BACKEND</a:t>
                </a:r>
              </a:p>
              <a:p>
                <a:pPr algn="just">
                  <a:lnSpc>
                    <a:spcPts val="2520"/>
                  </a:lnSpc>
                </a:pPr>
              </a:p>
              <a:p>
                <a:pPr algn="just">
                  <a:lnSpc>
                    <a:spcPts val="2520"/>
                  </a:lnSpc>
                </a:pPr>
                <a:r>
                  <a:rPr lang="en-US" sz="1800" b="true">
                    <a:solidFill>
                      <a:srgbClr val="000000"/>
                    </a:solidFill>
                    <a:latin typeface="JetBrains Mono Bold"/>
                    <a:ea typeface="JetBrains Mono Bold"/>
                    <a:cs typeface="JetBrains Mono Bold"/>
                    <a:sym typeface="JetBrains Mono Bold"/>
                  </a:rPr>
                  <a:t>Problem: starting to work on the backend got us behind at first, we  struggled a lot on understanding it, but after some classes and other resources we got the hang of it.</a:t>
                </a:r>
              </a:p>
              <a:p>
                <a:pPr algn="just">
                  <a:lnSpc>
                    <a:spcPts val="2520"/>
                  </a:lnSpc>
                </a:pPr>
              </a:p>
              <a:p>
                <a:pPr algn="just">
                  <a:lnSpc>
                    <a:spcPts val="2520"/>
                  </a:lnSpc>
                </a:pPr>
                <a:r>
                  <a:rPr lang="en-US" b="true" sz="1800">
                    <a:solidFill>
                      <a:srgbClr val="000000"/>
                    </a:solidFill>
                    <a:latin typeface="JetBrains Mono Bold"/>
                    <a:ea typeface="JetBrains Mono Bold"/>
                    <a:cs typeface="JetBrains Mono Bold"/>
                    <a:sym typeface="JetBrains Mono Bold"/>
                  </a:rPr>
                  <a:t>Solution: we kept asking our teacher’s for help and even watched videos to learn more.</a:t>
                </a:r>
              </a:p>
            </p:txBody>
          </p:sp>
        </p:gr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57771" y="484456"/>
            <a:ext cx="915543" cy="4114800"/>
          </a:xfrm>
          <a:custGeom>
            <a:avLst/>
            <a:gdLst/>
            <a:ahLst/>
            <a:cxnLst/>
            <a:rect r="r" b="b" t="t" l="l"/>
            <a:pathLst>
              <a:path h="4114800" w="915543">
                <a:moveTo>
                  <a:pt x="0" y="0"/>
                </a:moveTo>
                <a:lnTo>
                  <a:pt x="915543" y="0"/>
                </a:lnTo>
                <a:lnTo>
                  <a:pt x="91554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400000">
            <a:off x="16138165" y="8110361"/>
            <a:ext cx="1150809" cy="2295877"/>
          </a:xfrm>
          <a:custGeom>
            <a:avLst/>
            <a:gdLst/>
            <a:ahLst/>
            <a:cxnLst/>
            <a:rect r="r" b="b" t="t" l="l"/>
            <a:pathLst>
              <a:path h="2295877" w="1150809">
                <a:moveTo>
                  <a:pt x="0" y="0"/>
                </a:moveTo>
                <a:lnTo>
                  <a:pt x="1150809" y="0"/>
                </a:lnTo>
                <a:lnTo>
                  <a:pt x="1150809" y="2295878"/>
                </a:lnTo>
                <a:lnTo>
                  <a:pt x="0" y="22958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0089503" y="6602783"/>
            <a:ext cx="1093342" cy="1093342"/>
          </a:xfrm>
          <a:custGeom>
            <a:avLst/>
            <a:gdLst/>
            <a:ahLst/>
            <a:cxnLst/>
            <a:rect r="r" b="b" t="t" l="l"/>
            <a:pathLst>
              <a:path h="1093342" w="1093342">
                <a:moveTo>
                  <a:pt x="0" y="0"/>
                </a:moveTo>
                <a:lnTo>
                  <a:pt x="1093342" y="0"/>
                </a:lnTo>
                <a:lnTo>
                  <a:pt x="1093342" y="1093342"/>
                </a:lnTo>
                <a:lnTo>
                  <a:pt x="0" y="10933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5" id="5"/>
          <p:cNvSpPr txBox="true"/>
          <p:nvPr/>
        </p:nvSpPr>
        <p:spPr>
          <a:xfrm rot="0">
            <a:off x="1660552" y="1794115"/>
            <a:ext cx="5887321" cy="1419283"/>
          </a:xfrm>
          <a:prstGeom prst="rect">
            <a:avLst/>
          </a:prstGeom>
        </p:spPr>
        <p:txBody>
          <a:bodyPr anchor="t" rtlCol="false" tIns="0" lIns="0" bIns="0" rIns="0">
            <a:spAutoFit/>
          </a:bodyPr>
          <a:lstStyle/>
          <a:p>
            <a:pPr algn="l" marL="0" indent="0" lvl="0">
              <a:lnSpc>
                <a:spcPts val="5771"/>
              </a:lnSpc>
              <a:spcBef>
                <a:spcPct val="0"/>
              </a:spcBef>
            </a:pPr>
            <a:r>
              <a:rPr lang="en-US" sz="4122">
                <a:solidFill>
                  <a:srgbClr val="FFFFFF"/>
                </a:solidFill>
                <a:latin typeface="Press Start 2P"/>
                <a:ea typeface="Press Start 2P"/>
                <a:cs typeface="Press Start 2P"/>
                <a:sym typeface="Press Start 2P"/>
              </a:rPr>
              <a:t>WHAT WE LEARNED</a:t>
            </a:r>
          </a:p>
        </p:txBody>
      </p:sp>
      <p:sp>
        <p:nvSpPr>
          <p:cNvPr name="TextBox 6" id="6"/>
          <p:cNvSpPr txBox="true"/>
          <p:nvPr/>
        </p:nvSpPr>
        <p:spPr>
          <a:xfrm rot="0">
            <a:off x="1412902" y="4723313"/>
            <a:ext cx="4229255" cy="1841837"/>
          </a:xfrm>
          <a:prstGeom prst="rect">
            <a:avLst/>
          </a:prstGeom>
        </p:spPr>
        <p:txBody>
          <a:bodyPr anchor="t" rtlCol="false" tIns="0" lIns="0" bIns="0" rIns="0">
            <a:spAutoFit/>
          </a:bodyPr>
          <a:lstStyle/>
          <a:p>
            <a:pPr algn="just">
              <a:lnSpc>
                <a:spcPts val="2956"/>
              </a:lnSpc>
            </a:pPr>
            <a:r>
              <a:rPr lang="en-US" sz="2111">
                <a:solidFill>
                  <a:srgbClr val="FFFFFF"/>
                </a:solidFill>
                <a:latin typeface="JetBrains Mono"/>
                <a:ea typeface="JetBrains Mono"/>
                <a:cs typeface="JetBrains Mono"/>
                <a:sym typeface="JetBrains Mono"/>
              </a:rPr>
              <a:t>DATABASE: </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Data integrity</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CRUD Operations</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Views, Triggers, etc.</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Connection to backend</a:t>
            </a:r>
          </a:p>
        </p:txBody>
      </p:sp>
      <p:sp>
        <p:nvSpPr>
          <p:cNvPr name="Freeform 7" id="7"/>
          <p:cNvSpPr/>
          <p:nvPr/>
        </p:nvSpPr>
        <p:spPr>
          <a:xfrm flipH="false" flipV="false" rot="0">
            <a:off x="-850229" y="9284300"/>
            <a:ext cx="2616002" cy="1255681"/>
          </a:xfrm>
          <a:custGeom>
            <a:avLst/>
            <a:gdLst/>
            <a:ahLst/>
            <a:cxnLst/>
            <a:rect r="r" b="b" t="t" l="l"/>
            <a:pathLst>
              <a:path h="1255681" w="2616002">
                <a:moveTo>
                  <a:pt x="0" y="0"/>
                </a:moveTo>
                <a:lnTo>
                  <a:pt x="2616001" y="0"/>
                </a:lnTo>
                <a:lnTo>
                  <a:pt x="2616001" y="1255681"/>
                </a:lnTo>
                <a:lnTo>
                  <a:pt x="0" y="12556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8" id="8"/>
          <p:cNvGrpSpPr/>
          <p:nvPr/>
        </p:nvGrpSpPr>
        <p:grpSpPr>
          <a:xfrm rot="0">
            <a:off x="8748023" y="1341427"/>
            <a:ext cx="8782475" cy="3381887"/>
            <a:chOff x="0" y="0"/>
            <a:chExt cx="11709967" cy="4509182"/>
          </a:xfrm>
        </p:grpSpPr>
        <p:sp>
          <p:nvSpPr>
            <p:cNvPr name="Freeform 9" id="9"/>
            <p:cNvSpPr/>
            <p:nvPr/>
          </p:nvSpPr>
          <p:spPr>
            <a:xfrm flipH="false" flipV="false" rot="0">
              <a:off x="1020095" y="0"/>
              <a:ext cx="10689872" cy="4509182"/>
            </a:xfrm>
            <a:custGeom>
              <a:avLst/>
              <a:gdLst/>
              <a:ahLst/>
              <a:cxnLst/>
              <a:rect r="r" b="b" t="t" l="l"/>
              <a:pathLst>
                <a:path h="4509182" w="10689872">
                  <a:moveTo>
                    <a:pt x="0" y="0"/>
                  </a:moveTo>
                  <a:lnTo>
                    <a:pt x="10689872" y="0"/>
                  </a:lnTo>
                  <a:lnTo>
                    <a:pt x="10689872" y="4509182"/>
                  </a:lnTo>
                  <a:lnTo>
                    <a:pt x="0" y="45091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290735">
              <a:off x="104421" y="912300"/>
              <a:ext cx="2488621" cy="2577668"/>
            </a:xfrm>
            <a:custGeom>
              <a:avLst/>
              <a:gdLst/>
              <a:ahLst/>
              <a:cxnLst/>
              <a:rect r="r" b="b" t="t" l="l"/>
              <a:pathLst>
                <a:path h="2577668" w="2488621">
                  <a:moveTo>
                    <a:pt x="0" y="0"/>
                  </a:moveTo>
                  <a:lnTo>
                    <a:pt x="2488622" y="0"/>
                  </a:lnTo>
                  <a:lnTo>
                    <a:pt x="2488622" y="2577668"/>
                  </a:lnTo>
                  <a:lnTo>
                    <a:pt x="0" y="257766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1" id="11"/>
            <p:cNvSpPr txBox="true"/>
            <p:nvPr/>
          </p:nvSpPr>
          <p:spPr>
            <a:xfrm rot="0">
              <a:off x="2937526" y="467119"/>
              <a:ext cx="8281558" cy="3536844"/>
            </a:xfrm>
            <a:prstGeom prst="rect">
              <a:avLst/>
            </a:prstGeom>
          </p:spPr>
          <p:txBody>
            <a:bodyPr anchor="t" rtlCol="false" tIns="0" lIns="0" bIns="0" rIns="0">
              <a:spAutoFit/>
            </a:bodyPr>
            <a:lstStyle/>
            <a:p>
              <a:pPr algn="just">
                <a:lnSpc>
                  <a:spcPts val="2332"/>
                </a:lnSpc>
                <a:spcBef>
                  <a:spcPct val="0"/>
                </a:spcBef>
              </a:pPr>
              <a:r>
                <a:rPr lang="en-US" sz="1666">
                  <a:solidFill>
                    <a:srgbClr val="090D0F"/>
                  </a:solidFill>
                  <a:latin typeface="JetBrains Mono"/>
                  <a:ea typeface="JetBrains Mono"/>
                  <a:cs typeface="JetBrains Mono"/>
                  <a:sym typeface="JetBrains Mono"/>
                </a:rPr>
                <a:t>This project was our introduction to full-stack development. We started with the basics like HTML and CSS, then worked our way up to building a complete system. We created a custom game engine in JavaScript for the frontend, built APIs using Express for the backend, used MySQL for the database, and connected everything together. Each part helped us learn something new.</a:t>
              </a:r>
            </a:p>
          </p:txBody>
        </p:sp>
      </p:grpSp>
      <p:sp>
        <p:nvSpPr>
          <p:cNvPr name="TextBox 12" id="12"/>
          <p:cNvSpPr txBox="true"/>
          <p:nvPr/>
        </p:nvSpPr>
        <p:spPr>
          <a:xfrm rot="0">
            <a:off x="1412902" y="6985262"/>
            <a:ext cx="4229255" cy="1841837"/>
          </a:xfrm>
          <a:prstGeom prst="rect">
            <a:avLst/>
          </a:prstGeom>
        </p:spPr>
        <p:txBody>
          <a:bodyPr anchor="t" rtlCol="false" tIns="0" lIns="0" bIns="0" rIns="0">
            <a:spAutoFit/>
          </a:bodyPr>
          <a:lstStyle/>
          <a:p>
            <a:pPr algn="just">
              <a:lnSpc>
                <a:spcPts val="2956"/>
              </a:lnSpc>
            </a:pPr>
            <a:r>
              <a:rPr lang="en-US" sz="2111">
                <a:solidFill>
                  <a:srgbClr val="FFFFFF"/>
                </a:solidFill>
                <a:latin typeface="JetBrains Mono"/>
                <a:ea typeface="JetBrains Mono"/>
                <a:cs typeface="JetBrains Mono"/>
                <a:sym typeface="JetBrains Mono"/>
              </a:rPr>
              <a:t>GAME DEVELOPMENT: </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Role of Physics in games</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FSM</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Videogame concepts</a:t>
            </a:r>
          </a:p>
        </p:txBody>
      </p:sp>
      <p:sp>
        <p:nvSpPr>
          <p:cNvPr name="TextBox 13" id="13"/>
          <p:cNvSpPr txBox="true"/>
          <p:nvPr/>
        </p:nvSpPr>
        <p:spPr>
          <a:xfrm rot="0">
            <a:off x="5642157" y="4723313"/>
            <a:ext cx="4229255" cy="1841837"/>
          </a:xfrm>
          <a:prstGeom prst="rect">
            <a:avLst/>
          </a:prstGeom>
        </p:spPr>
        <p:txBody>
          <a:bodyPr anchor="t" rtlCol="false" tIns="0" lIns="0" bIns="0" rIns="0">
            <a:spAutoFit/>
          </a:bodyPr>
          <a:lstStyle/>
          <a:p>
            <a:pPr algn="just">
              <a:lnSpc>
                <a:spcPts val="2956"/>
              </a:lnSpc>
            </a:pPr>
            <a:r>
              <a:rPr lang="en-US" sz="2111">
                <a:solidFill>
                  <a:srgbClr val="FFFFFF"/>
                </a:solidFill>
                <a:latin typeface="JetBrains Mono"/>
                <a:ea typeface="JetBrains Mono"/>
                <a:cs typeface="JetBrains Mono"/>
                <a:sym typeface="JetBrains Mono"/>
              </a:rPr>
              <a:t>WEB DESIGN: </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How to create websites</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Use of css in HTML</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Bootstrap &amp; Jquery</a:t>
            </a:r>
          </a:p>
          <a:p>
            <a:pPr algn="l">
              <a:lnSpc>
                <a:spcPts val="2956"/>
              </a:lnSpc>
            </a:pPr>
          </a:p>
        </p:txBody>
      </p:sp>
      <p:sp>
        <p:nvSpPr>
          <p:cNvPr name="TextBox 14" id="14"/>
          <p:cNvSpPr txBox="true"/>
          <p:nvPr/>
        </p:nvSpPr>
        <p:spPr>
          <a:xfrm rot="0">
            <a:off x="5642157" y="6985262"/>
            <a:ext cx="4229255" cy="2213312"/>
          </a:xfrm>
          <a:prstGeom prst="rect">
            <a:avLst/>
          </a:prstGeom>
        </p:spPr>
        <p:txBody>
          <a:bodyPr anchor="t" rtlCol="false" tIns="0" lIns="0" bIns="0" rIns="0">
            <a:spAutoFit/>
          </a:bodyPr>
          <a:lstStyle/>
          <a:p>
            <a:pPr algn="just">
              <a:lnSpc>
                <a:spcPts val="2956"/>
              </a:lnSpc>
            </a:pPr>
            <a:r>
              <a:rPr lang="en-US" sz="2111">
                <a:solidFill>
                  <a:srgbClr val="FFFFFF"/>
                </a:solidFill>
                <a:latin typeface="JetBrains Mono"/>
                <a:ea typeface="JetBrains Mono"/>
                <a:cs typeface="JetBrains Mono"/>
                <a:sym typeface="JetBrains Mono"/>
              </a:rPr>
              <a:t>SOFTWARE DEVELOPMENT: </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Github</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SCRUM</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Github Projects</a:t>
            </a:r>
          </a:p>
          <a:p>
            <a:pPr algn="l" marL="455919" indent="-227960" lvl="1">
              <a:lnSpc>
                <a:spcPts val="2956"/>
              </a:lnSpc>
              <a:buFont typeface="Arial"/>
              <a:buChar char="•"/>
            </a:pPr>
            <a:r>
              <a:rPr lang="en-US" sz="2111">
                <a:solidFill>
                  <a:srgbClr val="FFFFFF"/>
                </a:solidFill>
                <a:latin typeface="JetBrains Mono"/>
                <a:ea typeface="JetBrains Mono"/>
                <a:cs typeface="JetBrains Mono"/>
                <a:sym typeface="JetBrains Mono"/>
              </a:rPr>
              <a:t>TEAM WORK !!</a:t>
            </a:r>
          </a:p>
          <a:p>
            <a:pPr algn="l">
              <a:lnSpc>
                <a:spcPts val="2956"/>
              </a:lnSpc>
            </a:pPr>
          </a:p>
        </p:txBody>
      </p:sp>
      <p:sp>
        <p:nvSpPr>
          <p:cNvPr name="TextBox 15" id="15"/>
          <p:cNvSpPr txBox="true"/>
          <p:nvPr/>
        </p:nvSpPr>
        <p:spPr>
          <a:xfrm rot="-229356">
            <a:off x="11708445" y="6891550"/>
            <a:ext cx="4449779" cy="1072284"/>
          </a:xfrm>
          <a:prstGeom prst="rect">
            <a:avLst/>
          </a:prstGeom>
        </p:spPr>
        <p:txBody>
          <a:bodyPr anchor="t" rtlCol="false" tIns="0" lIns="0" bIns="0" rIns="0">
            <a:spAutoFit/>
          </a:bodyPr>
          <a:lstStyle/>
          <a:p>
            <a:pPr algn="l" marL="0" indent="0" lvl="0">
              <a:lnSpc>
                <a:spcPts val="4362"/>
              </a:lnSpc>
              <a:spcBef>
                <a:spcPct val="0"/>
              </a:spcBef>
            </a:pPr>
            <a:r>
              <a:rPr lang="en-US" sz="3116">
                <a:solidFill>
                  <a:srgbClr val="DEFF8C"/>
                </a:solidFill>
                <a:latin typeface="Press Start 2P"/>
                <a:ea typeface="Press Start 2P"/>
                <a:cs typeface="Press Start 2P"/>
                <a:sym typeface="Press Start 2P"/>
              </a:rPr>
              <a:t>FULL STACK DEVELOPMENT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57771" y="484456"/>
            <a:ext cx="915543" cy="4114800"/>
          </a:xfrm>
          <a:custGeom>
            <a:avLst/>
            <a:gdLst/>
            <a:ahLst/>
            <a:cxnLst/>
            <a:rect r="r" b="b" t="t" l="l"/>
            <a:pathLst>
              <a:path h="4114800" w="915543">
                <a:moveTo>
                  <a:pt x="0" y="0"/>
                </a:moveTo>
                <a:lnTo>
                  <a:pt x="915543" y="0"/>
                </a:lnTo>
                <a:lnTo>
                  <a:pt x="91554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400000">
            <a:off x="16138165" y="8110361"/>
            <a:ext cx="1150809" cy="2295877"/>
          </a:xfrm>
          <a:custGeom>
            <a:avLst/>
            <a:gdLst/>
            <a:ahLst/>
            <a:cxnLst/>
            <a:rect r="r" b="b" t="t" l="l"/>
            <a:pathLst>
              <a:path h="2295877" w="1150809">
                <a:moveTo>
                  <a:pt x="0" y="0"/>
                </a:moveTo>
                <a:lnTo>
                  <a:pt x="1150809" y="0"/>
                </a:lnTo>
                <a:lnTo>
                  <a:pt x="1150809" y="2295878"/>
                </a:lnTo>
                <a:lnTo>
                  <a:pt x="0" y="22958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482029" y="8682896"/>
            <a:ext cx="1093342" cy="1093342"/>
          </a:xfrm>
          <a:custGeom>
            <a:avLst/>
            <a:gdLst/>
            <a:ahLst/>
            <a:cxnLst/>
            <a:rect r="r" b="b" t="t" l="l"/>
            <a:pathLst>
              <a:path h="1093342" w="1093342">
                <a:moveTo>
                  <a:pt x="0" y="0"/>
                </a:moveTo>
                <a:lnTo>
                  <a:pt x="1093342" y="0"/>
                </a:lnTo>
                <a:lnTo>
                  <a:pt x="1093342" y="1093342"/>
                </a:lnTo>
                <a:lnTo>
                  <a:pt x="0" y="10933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16713569" y="4785310"/>
            <a:ext cx="2616002" cy="1255681"/>
          </a:xfrm>
          <a:custGeom>
            <a:avLst/>
            <a:gdLst/>
            <a:ahLst/>
            <a:cxnLst/>
            <a:rect r="r" b="b" t="t" l="l"/>
            <a:pathLst>
              <a:path h="1255681" w="2616002">
                <a:moveTo>
                  <a:pt x="0" y="0"/>
                </a:moveTo>
                <a:lnTo>
                  <a:pt x="2616002" y="0"/>
                </a:lnTo>
                <a:lnTo>
                  <a:pt x="2616002" y="1255681"/>
                </a:lnTo>
                <a:lnTo>
                  <a:pt x="0" y="12556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1831967" y="2541856"/>
            <a:ext cx="4407552" cy="6483897"/>
            <a:chOff x="0" y="0"/>
            <a:chExt cx="1367203" cy="2011276"/>
          </a:xfrm>
        </p:grpSpPr>
        <p:sp>
          <p:nvSpPr>
            <p:cNvPr name="Freeform 7" id="7"/>
            <p:cNvSpPr/>
            <p:nvPr/>
          </p:nvSpPr>
          <p:spPr>
            <a:xfrm flipH="false" flipV="false" rot="0">
              <a:off x="0" y="0"/>
              <a:ext cx="1367203" cy="2011276"/>
            </a:xfrm>
            <a:custGeom>
              <a:avLst/>
              <a:gdLst/>
              <a:ahLst/>
              <a:cxnLst/>
              <a:rect r="r" b="b" t="t" l="l"/>
              <a:pathLst>
                <a:path h="2011276" w="1367203">
                  <a:moveTo>
                    <a:pt x="0" y="0"/>
                  </a:moveTo>
                  <a:lnTo>
                    <a:pt x="1367203" y="0"/>
                  </a:lnTo>
                  <a:lnTo>
                    <a:pt x="1367203" y="2011276"/>
                  </a:lnTo>
                  <a:lnTo>
                    <a:pt x="0" y="2011276"/>
                  </a:lnTo>
                  <a:close/>
                </a:path>
              </a:pathLst>
            </a:custGeom>
            <a:solidFill>
              <a:srgbClr val="C1FF72"/>
            </a:solidFill>
          </p:spPr>
        </p:sp>
        <p:sp>
          <p:nvSpPr>
            <p:cNvPr name="TextBox 8" id="8"/>
            <p:cNvSpPr txBox="true"/>
            <p:nvPr/>
          </p:nvSpPr>
          <p:spPr>
            <a:xfrm>
              <a:off x="0" y="-47625"/>
              <a:ext cx="1367203" cy="2058901"/>
            </a:xfrm>
            <a:prstGeom prst="rect">
              <a:avLst/>
            </a:prstGeom>
          </p:spPr>
          <p:txBody>
            <a:bodyPr anchor="ctr" rtlCol="false" tIns="50800" lIns="50800" bIns="50800" rIns="50800"/>
            <a:lstStyle/>
            <a:p>
              <a:pPr algn="ctr">
                <a:lnSpc>
                  <a:spcPts val="3359"/>
                </a:lnSpc>
              </a:pPr>
              <a:r>
                <a:rPr lang="en-US" sz="2400" b="true">
                  <a:solidFill>
                    <a:srgbClr val="000000"/>
                  </a:solidFill>
                  <a:latin typeface="JetBrains Mono Bold"/>
                  <a:ea typeface="JetBrains Mono Bold"/>
                  <a:cs typeface="JetBrains Mono Bold"/>
                  <a:sym typeface="JetBrains Mono Bold"/>
                </a:rPr>
                <a:t>RENATA</a:t>
              </a:r>
            </a:p>
            <a:p>
              <a:pPr algn="ctr">
                <a:lnSpc>
                  <a:spcPts val="2800"/>
                </a:lnSpc>
              </a:pPr>
            </a:p>
            <a:p>
              <a:pPr algn="ctr">
                <a:lnSpc>
                  <a:spcPts val="2800"/>
                </a:lnSpc>
              </a:pPr>
              <a:r>
                <a:rPr lang="en-US" b="true" sz="2000">
                  <a:solidFill>
                    <a:srgbClr val="000000"/>
                  </a:solidFill>
                  <a:latin typeface="JetBrains Mono Bold"/>
                  <a:ea typeface="JetBrains Mono Bold"/>
                  <a:cs typeface="JetBrains Mono Bold"/>
                  <a:sym typeface="JetBrains Mono Bold"/>
                </a:rPr>
                <a:t>Over these 10 weeks, I learned a lot and improved on my skills. At the beginning, I felt confused and didn’t know many things, but now I feel happy with what I can do and that I helped build Anura. I also learned more about teamwork and realized how important it is for everything we do.</a:t>
              </a:r>
            </a:p>
          </p:txBody>
        </p:sp>
      </p:grpSp>
      <p:sp>
        <p:nvSpPr>
          <p:cNvPr name="TextBox 9" id="9"/>
          <p:cNvSpPr txBox="true"/>
          <p:nvPr/>
        </p:nvSpPr>
        <p:spPr>
          <a:xfrm rot="0">
            <a:off x="1028700" y="725246"/>
            <a:ext cx="16194588" cy="695383"/>
          </a:xfrm>
          <a:prstGeom prst="rect">
            <a:avLst/>
          </a:prstGeom>
        </p:spPr>
        <p:txBody>
          <a:bodyPr anchor="t" rtlCol="false" tIns="0" lIns="0" bIns="0" rIns="0">
            <a:spAutoFit/>
          </a:bodyPr>
          <a:lstStyle/>
          <a:p>
            <a:pPr algn="ctr" marL="0" indent="0" lvl="0">
              <a:lnSpc>
                <a:spcPts val="5771"/>
              </a:lnSpc>
              <a:spcBef>
                <a:spcPct val="0"/>
              </a:spcBef>
            </a:pPr>
            <a:r>
              <a:rPr lang="en-US" sz="4122">
                <a:solidFill>
                  <a:srgbClr val="FFFFFF"/>
                </a:solidFill>
                <a:latin typeface="Press Start 2P"/>
                <a:ea typeface="Press Start 2P"/>
                <a:cs typeface="Press Start 2P"/>
                <a:sym typeface="Press Start 2P"/>
              </a:rPr>
              <a:t>TEAM REFLECTIONS</a:t>
            </a:r>
          </a:p>
        </p:txBody>
      </p:sp>
      <p:grpSp>
        <p:nvGrpSpPr>
          <p:cNvPr name="Group 10" id="10"/>
          <p:cNvGrpSpPr/>
          <p:nvPr/>
        </p:nvGrpSpPr>
        <p:grpSpPr>
          <a:xfrm rot="0">
            <a:off x="6811019" y="2541856"/>
            <a:ext cx="4407552" cy="6483897"/>
            <a:chOff x="0" y="0"/>
            <a:chExt cx="1367203" cy="2011276"/>
          </a:xfrm>
        </p:grpSpPr>
        <p:sp>
          <p:nvSpPr>
            <p:cNvPr name="Freeform 11" id="11"/>
            <p:cNvSpPr/>
            <p:nvPr/>
          </p:nvSpPr>
          <p:spPr>
            <a:xfrm flipH="false" flipV="false" rot="0">
              <a:off x="0" y="0"/>
              <a:ext cx="1367203" cy="2011276"/>
            </a:xfrm>
            <a:custGeom>
              <a:avLst/>
              <a:gdLst/>
              <a:ahLst/>
              <a:cxnLst/>
              <a:rect r="r" b="b" t="t" l="l"/>
              <a:pathLst>
                <a:path h="2011276" w="1367203">
                  <a:moveTo>
                    <a:pt x="0" y="0"/>
                  </a:moveTo>
                  <a:lnTo>
                    <a:pt x="1367203" y="0"/>
                  </a:lnTo>
                  <a:lnTo>
                    <a:pt x="1367203" y="2011276"/>
                  </a:lnTo>
                  <a:lnTo>
                    <a:pt x="0" y="2011276"/>
                  </a:lnTo>
                  <a:close/>
                </a:path>
              </a:pathLst>
            </a:custGeom>
            <a:solidFill>
              <a:srgbClr val="C1FF72"/>
            </a:solidFill>
          </p:spPr>
        </p:sp>
        <p:sp>
          <p:nvSpPr>
            <p:cNvPr name="TextBox 12" id="12"/>
            <p:cNvSpPr txBox="true"/>
            <p:nvPr/>
          </p:nvSpPr>
          <p:spPr>
            <a:xfrm>
              <a:off x="0" y="-47625"/>
              <a:ext cx="1367203" cy="2058901"/>
            </a:xfrm>
            <a:prstGeom prst="rect">
              <a:avLst/>
            </a:prstGeom>
          </p:spPr>
          <p:txBody>
            <a:bodyPr anchor="ctr" rtlCol="false" tIns="50800" lIns="50800" bIns="50800" rIns="50800"/>
            <a:lstStyle/>
            <a:p>
              <a:pPr algn="ctr" marL="0" indent="0" lvl="0">
                <a:lnSpc>
                  <a:spcPts val="2800"/>
                </a:lnSpc>
                <a:spcBef>
                  <a:spcPct val="0"/>
                </a:spcBef>
              </a:pPr>
              <a:r>
                <a:rPr lang="en-US" b="true" sz="2000" strike="noStrike" u="none">
                  <a:solidFill>
                    <a:srgbClr val="000000"/>
                  </a:solidFill>
                  <a:latin typeface="JetBrains Mono Bold"/>
                  <a:ea typeface="JetBrains Mono Bold"/>
                  <a:cs typeface="JetBrains Mono Bold"/>
                  <a:sym typeface="JetBrains Mono Bold"/>
                </a:rPr>
                <a:t>CARLOS</a:t>
              </a:r>
            </a:p>
            <a:p>
              <a:pPr algn="ctr" marL="0" indent="0" lvl="0">
                <a:lnSpc>
                  <a:spcPts val="2800"/>
                </a:lnSpc>
                <a:spcBef>
                  <a:spcPct val="0"/>
                </a:spcBef>
              </a:pPr>
            </a:p>
            <a:p>
              <a:pPr algn="ctr" marL="0" indent="0" lvl="0">
                <a:lnSpc>
                  <a:spcPts val="2800"/>
                </a:lnSpc>
                <a:spcBef>
                  <a:spcPct val="0"/>
                </a:spcBef>
              </a:pPr>
              <a:r>
                <a:rPr lang="en-US" b="true" sz="2000" strike="noStrike" u="none">
                  <a:solidFill>
                    <a:srgbClr val="000000"/>
                  </a:solidFill>
                  <a:latin typeface="JetBrains Mono Bold"/>
                  <a:ea typeface="JetBrains Mono Bold"/>
                  <a:cs typeface="JetBrains Mono Bold"/>
                  <a:sym typeface="JetBrains Mono Bold"/>
                </a:rPr>
                <a:t>I learned how important organization and planning are in a project like this. </a:t>
              </a:r>
              <a:r>
                <a:rPr lang="en-US" b="true" sz="2000" strike="noStrike" u="none">
                  <a:solidFill>
                    <a:srgbClr val="000000"/>
                  </a:solidFill>
                  <a:latin typeface="JetBrains Mono Bold"/>
                  <a:ea typeface="JetBrains Mono Bold"/>
                  <a:cs typeface="JetBrains Mono Bold"/>
                  <a:sym typeface="JetBrains Mono Bold"/>
                </a:rPr>
                <a:t>Keep</a:t>
              </a:r>
              <a:r>
                <a:rPr lang="en-US" b="true" sz="2000" strike="noStrike" u="none">
                  <a:solidFill>
                    <a:srgbClr val="000000"/>
                  </a:solidFill>
                  <a:latin typeface="JetBrains Mono Bold"/>
                  <a:ea typeface="JetBrains Mono Bold"/>
                  <a:cs typeface="JetBrains Mono Bold"/>
                  <a:sym typeface="JetBrains Mono Bold"/>
                </a:rPr>
                <a:t>ing everything structured was challenging</a:t>
              </a:r>
              <a:r>
                <a:rPr lang="en-US" b="true" sz="2000" strike="noStrike" u="none">
                  <a:solidFill>
                    <a:srgbClr val="000000"/>
                  </a:solidFill>
                  <a:latin typeface="JetBrains Mono Bold"/>
                  <a:ea typeface="JetBrains Mono Bold"/>
                  <a:cs typeface="JetBrains Mono Bold"/>
                  <a:sym typeface="JetBrains Mono Bold"/>
                </a:rPr>
                <a:t> at first,</a:t>
              </a:r>
              <a:r>
                <a:rPr lang="en-US" b="true" sz="2000" strike="noStrike" u="none">
                  <a:solidFill>
                    <a:srgbClr val="000000"/>
                  </a:solidFill>
                  <a:latin typeface="JetBrains Mono Bold"/>
                  <a:ea typeface="JetBrains Mono Bold"/>
                  <a:cs typeface="JetBrains Mono Bold"/>
                  <a:sym typeface="JetBrains Mono Bold"/>
                </a:rPr>
                <a:t> but over time we improved in managing tasks. I also learned </a:t>
              </a:r>
              <a:r>
                <a:rPr lang="en-US" b="true" sz="2000" strike="noStrike" u="none">
                  <a:solidFill>
                    <a:srgbClr val="000000"/>
                  </a:solidFill>
                  <a:latin typeface="JetBrains Mono Bold"/>
                  <a:ea typeface="JetBrains Mono Bold"/>
                  <a:cs typeface="JetBrains Mono Bold"/>
                  <a:sym typeface="JetBrains Mono Bold"/>
                </a:rPr>
                <a:t>how to w</a:t>
              </a:r>
              <a:r>
                <a:rPr lang="en-US" b="true" sz="2000" strike="noStrike" u="none">
                  <a:solidFill>
                    <a:srgbClr val="000000"/>
                  </a:solidFill>
                  <a:latin typeface="JetBrains Mono Bold"/>
                  <a:ea typeface="JetBrains Mono Bold"/>
                  <a:cs typeface="JetBrains Mono Bold"/>
                  <a:sym typeface="JetBrains Mono Bold"/>
                </a:rPr>
                <a:t>or</a:t>
              </a:r>
              <a:r>
                <a:rPr lang="en-US" b="true" sz="2000" strike="noStrike" u="none">
                  <a:solidFill>
                    <a:srgbClr val="000000"/>
                  </a:solidFill>
                  <a:latin typeface="JetBrains Mono Bold"/>
                  <a:ea typeface="JetBrains Mono Bold"/>
                  <a:cs typeface="JetBrains Mono Bold"/>
                  <a:sym typeface="JetBrains Mono Bold"/>
                </a:rPr>
                <a:t>k on diff</a:t>
              </a:r>
              <a:r>
                <a:rPr lang="en-US" b="true" sz="2000" strike="noStrike" u="none">
                  <a:solidFill>
                    <a:srgbClr val="000000"/>
                  </a:solidFill>
                  <a:latin typeface="JetBrains Mono Bold"/>
                  <a:ea typeface="JetBrains Mono Bold"/>
                  <a:cs typeface="JetBrains Mono Bold"/>
                  <a:sym typeface="JetBrains Mono Bold"/>
                </a:rPr>
                <a:t>e</a:t>
              </a:r>
              <a:r>
                <a:rPr lang="en-US" b="true" sz="2000" strike="noStrike" u="none">
                  <a:solidFill>
                    <a:srgbClr val="000000"/>
                  </a:solidFill>
                  <a:latin typeface="JetBrains Mono Bold"/>
                  <a:ea typeface="JetBrains Mono Bold"/>
                  <a:cs typeface="JetBrains Mono Bold"/>
                  <a:sym typeface="JetBrains Mono Bold"/>
                </a:rPr>
                <a:t>rent</a:t>
              </a:r>
              <a:r>
                <a:rPr lang="en-US" b="true" sz="2000" strike="noStrike" u="none">
                  <a:solidFill>
                    <a:srgbClr val="000000"/>
                  </a:solidFill>
                  <a:latin typeface="JetBrains Mono Bold"/>
                  <a:ea typeface="JetBrains Mono Bold"/>
                  <a:cs typeface="JetBrains Mono Bold"/>
                  <a:sym typeface="JetBrains Mono Bold"/>
                </a:rPr>
                <a:t> a</a:t>
              </a:r>
              <a:r>
                <a:rPr lang="en-US" b="true" sz="2000" strike="noStrike" u="none">
                  <a:solidFill>
                    <a:srgbClr val="000000"/>
                  </a:solidFill>
                  <a:latin typeface="JetBrains Mono Bold"/>
                  <a:ea typeface="JetBrains Mono Bold"/>
                  <a:cs typeface="JetBrains Mono Bold"/>
                  <a:sym typeface="JetBrains Mono Bold"/>
                </a:rPr>
                <a:t>reas</a:t>
              </a:r>
              <a:r>
                <a:rPr lang="en-US" b="true" sz="2000" strike="noStrike" u="none">
                  <a:solidFill>
                    <a:srgbClr val="000000"/>
                  </a:solidFill>
                  <a:latin typeface="JetBrains Mono Bold"/>
                  <a:ea typeface="JetBrains Mono Bold"/>
                  <a:cs typeface="JetBrains Mono Bold"/>
                  <a:sym typeface="JetBrains Mono Bold"/>
                </a:rPr>
                <a:t> o</a:t>
              </a:r>
              <a:r>
                <a:rPr lang="en-US" b="true" sz="2000" strike="noStrike" u="none">
                  <a:solidFill>
                    <a:srgbClr val="000000"/>
                  </a:solidFill>
                  <a:latin typeface="JetBrains Mono Bold"/>
                  <a:ea typeface="JetBrains Mono Bold"/>
                  <a:cs typeface="JetBrains Mono Bold"/>
                  <a:sym typeface="JetBrains Mono Bold"/>
                </a:rPr>
                <a:t>f</a:t>
              </a:r>
              <a:r>
                <a:rPr lang="en-US" b="true" sz="2000" strike="noStrike" u="none">
                  <a:solidFill>
                    <a:srgbClr val="000000"/>
                  </a:solidFill>
                  <a:latin typeface="JetBrains Mono Bold"/>
                  <a:ea typeface="JetBrains Mono Bold"/>
                  <a:cs typeface="JetBrains Mono Bold"/>
                  <a:sym typeface="JetBrains Mono Bold"/>
                </a:rPr>
                <a:t> t</a:t>
              </a:r>
              <a:r>
                <a:rPr lang="en-US" b="true" sz="2000" strike="noStrike" u="none">
                  <a:solidFill>
                    <a:srgbClr val="000000"/>
                  </a:solidFill>
                  <a:latin typeface="JetBrains Mono Bold"/>
                  <a:ea typeface="JetBrains Mono Bold"/>
                  <a:cs typeface="JetBrains Mono Bold"/>
                  <a:sym typeface="JetBrains Mono Bold"/>
                </a:rPr>
                <a:t>he</a:t>
              </a:r>
              <a:r>
                <a:rPr lang="en-US" b="true" sz="2000" strike="noStrike" u="none">
                  <a:solidFill>
                    <a:srgbClr val="000000"/>
                  </a:solidFill>
                  <a:latin typeface="JetBrains Mono Bold"/>
                  <a:ea typeface="JetBrains Mono Bold"/>
                  <a:cs typeface="JetBrains Mono Bold"/>
                  <a:sym typeface="JetBrains Mono Bold"/>
                </a:rPr>
                <a:t> </a:t>
              </a:r>
              <a:r>
                <a:rPr lang="en-US" b="true" sz="2000" strike="noStrike" u="none">
                  <a:solidFill>
                    <a:srgbClr val="000000"/>
                  </a:solidFill>
                  <a:latin typeface="JetBrains Mono Bold"/>
                  <a:ea typeface="JetBrains Mono Bold"/>
                  <a:cs typeface="JetBrains Mono Bold"/>
                  <a:sym typeface="JetBrains Mono Bold"/>
                </a:rPr>
                <a:t>proje</a:t>
              </a:r>
              <a:r>
                <a:rPr lang="en-US" b="true" sz="2000" strike="noStrike" u="none">
                  <a:solidFill>
                    <a:srgbClr val="000000"/>
                  </a:solidFill>
                  <a:latin typeface="JetBrains Mono Bold"/>
                  <a:ea typeface="JetBrains Mono Bold"/>
                  <a:cs typeface="JetBrains Mono Bold"/>
                  <a:sym typeface="JetBrains Mono Bold"/>
                </a:rPr>
                <a:t>c</a:t>
              </a:r>
              <a:r>
                <a:rPr lang="en-US" b="true" sz="2000" strike="noStrike" u="none">
                  <a:solidFill>
                    <a:srgbClr val="000000"/>
                  </a:solidFill>
                  <a:latin typeface="JetBrains Mono Bold"/>
                  <a:ea typeface="JetBrains Mono Bold"/>
                  <a:cs typeface="JetBrains Mono Bold"/>
                  <a:sym typeface="JetBrains Mono Bold"/>
                </a:rPr>
                <a:t>t </a:t>
              </a:r>
              <a:r>
                <a:rPr lang="en-US" b="true" sz="2000" strike="noStrike" u="none">
                  <a:solidFill>
                    <a:srgbClr val="000000"/>
                  </a:solidFill>
                  <a:latin typeface="JetBrains Mono Bold"/>
                  <a:ea typeface="JetBrains Mono Bold"/>
                  <a:cs typeface="JetBrains Mono Bold"/>
                  <a:sym typeface="JetBrains Mono Bold"/>
                </a:rPr>
                <a:t>a</a:t>
              </a:r>
              <a:r>
                <a:rPr lang="en-US" b="true" sz="2000" strike="noStrike" u="none">
                  <a:solidFill>
                    <a:srgbClr val="000000"/>
                  </a:solidFill>
                  <a:latin typeface="JetBrains Mono Bold"/>
                  <a:ea typeface="JetBrains Mono Bold"/>
                  <a:cs typeface="JetBrains Mono Bold"/>
                  <a:sym typeface="JetBrains Mono Bold"/>
                </a:rPr>
                <a:t>nd</a:t>
              </a:r>
              <a:r>
                <a:rPr lang="en-US" b="true" sz="2000" strike="noStrike" u="none">
                  <a:solidFill>
                    <a:srgbClr val="000000"/>
                  </a:solidFill>
                  <a:latin typeface="JetBrains Mono Bold"/>
                  <a:ea typeface="JetBrains Mono Bold"/>
                  <a:cs typeface="JetBrains Mono Bold"/>
                  <a:sym typeface="JetBrains Mono Bold"/>
                </a:rPr>
                <a:t> do a bit of everything.</a:t>
              </a:r>
            </a:p>
            <a:p>
              <a:pPr algn="ctr" marL="0" indent="0" lvl="0">
                <a:lnSpc>
                  <a:spcPts val="2800"/>
                </a:lnSpc>
                <a:spcBef>
                  <a:spcPct val="0"/>
                </a:spcBef>
              </a:pPr>
            </a:p>
          </p:txBody>
        </p:sp>
      </p:grpSp>
      <p:grpSp>
        <p:nvGrpSpPr>
          <p:cNvPr name="Group 13" id="13"/>
          <p:cNvGrpSpPr/>
          <p:nvPr/>
        </p:nvGrpSpPr>
        <p:grpSpPr>
          <a:xfrm rot="0">
            <a:off x="11790072" y="2541856"/>
            <a:ext cx="4407552" cy="6483897"/>
            <a:chOff x="0" y="0"/>
            <a:chExt cx="1367203" cy="2011276"/>
          </a:xfrm>
        </p:grpSpPr>
        <p:sp>
          <p:nvSpPr>
            <p:cNvPr name="Freeform 14" id="14"/>
            <p:cNvSpPr/>
            <p:nvPr/>
          </p:nvSpPr>
          <p:spPr>
            <a:xfrm flipH="false" flipV="false" rot="0">
              <a:off x="0" y="0"/>
              <a:ext cx="1367203" cy="2011276"/>
            </a:xfrm>
            <a:custGeom>
              <a:avLst/>
              <a:gdLst/>
              <a:ahLst/>
              <a:cxnLst/>
              <a:rect r="r" b="b" t="t" l="l"/>
              <a:pathLst>
                <a:path h="2011276" w="1367203">
                  <a:moveTo>
                    <a:pt x="0" y="0"/>
                  </a:moveTo>
                  <a:lnTo>
                    <a:pt x="1367203" y="0"/>
                  </a:lnTo>
                  <a:lnTo>
                    <a:pt x="1367203" y="2011276"/>
                  </a:lnTo>
                  <a:lnTo>
                    <a:pt x="0" y="2011276"/>
                  </a:lnTo>
                  <a:close/>
                </a:path>
              </a:pathLst>
            </a:custGeom>
            <a:solidFill>
              <a:srgbClr val="C1FF72"/>
            </a:solidFill>
          </p:spPr>
        </p:sp>
        <p:sp>
          <p:nvSpPr>
            <p:cNvPr name="TextBox 15" id="15"/>
            <p:cNvSpPr txBox="true"/>
            <p:nvPr/>
          </p:nvSpPr>
          <p:spPr>
            <a:xfrm>
              <a:off x="0" y="-47625"/>
              <a:ext cx="1367203" cy="2058901"/>
            </a:xfrm>
            <a:prstGeom prst="rect">
              <a:avLst/>
            </a:prstGeom>
          </p:spPr>
          <p:txBody>
            <a:bodyPr anchor="ctr" rtlCol="false" tIns="50800" lIns="50800" bIns="50800" rIns="50800"/>
            <a:lstStyle/>
            <a:p>
              <a:pPr algn="ctr">
                <a:lnSpc>
                  <a:spcPts val="2800"/>
                </a:lnSpc>
              </a:pPr>
              <a:r>
                <a:rPr lang="en-US" sz="2000" b="true">
                  <a:solidFill>
                    <a:srgbClr val="000000"/>
                  </a:solidFill>
                  <a:latin typeface="JetBrains Mono Bold"/>
                  <a:ea typeface="JetBrains Mono Bold"/>
                  <a:cs typeface="JetBrains Mono Bold"/>
                  <a:sym typeface="JetBrains Mono Bold"/>
                </a:rPr>
                <a:t>EMILIO</a:t>
              </a:r>
            </a:p>
            <a:p>
              <a:pPr algn="ctr">
                <a:lnSpc>
                  <a:spcPts val="2800"/>
                </a:lnSpc>
              </a:pPr>
            </a:p>
            <a:p>
              <a:pPr algn="ctr" marL="0" indent="0" lvl="0">
                <a:lnSpc>
                  <a:spcPts val="2800"/>
                </a:lnSpc>
                <a:spcBef>
                  <a:spcPct val="0"/>
                </a:spcBef>
              </a:pPr>
              <a:r>
                <a:rPr lang="en-US" b="true" sz="2000" strike="noStrike" u="none">
                  <a:solidFill>
                    <a:srgbClr val="000000"/>
                  </a:solidFill>
                  <a:latin typeface="JetBrains Mono Bold"/>
                  <a:ea typeface="JetBrains Mono Bold"/>
                  <a:cs typeface="JetBrains Mono Bold"/>
                  <a:sym typeface="JetBrains Mono Bold"/>
                </a:rPr>
                <a:t>During the making of this project I learned a lot about teamwork and problem solving. I also improved my skills in databases, which wasn’t my strength at first, but I managed to understand it better and apply it throughout the project.</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57771" y="484456"/>
            <a:ext cx="915543" cy="4114800"/>
          </a:xfrm>
          <a:custGeom>
            <a:avLst/>
            <a:gdLst/>
            <a:ahLst/>
            <a:cxnLst/>
            <a:rect r="r" b="b" t="t" l="l"/>
            <a:pathLst>
              <a:path h="4114800" w="915543">
                <a:moveTo>
                  <a:pt x="0" y="0"/>
                </a:moveTo>
                <a:lnTo>
                  <a:pt x="915543" y="0"/>
                </a:lnTo>
                <a:lnTo>
                  <a:pt x="91554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400000">
            <a:off x="16138165" y="8110361"/>
            <a:ext cx="1150809" cy="2295877"/>
          </a:xfrm>
          <a:custGeom>
            <a:avLst/>
            <a:gdLst/>
            <a:ahLst/>
            <a:cxnLst/>
            <a:rect r="r" b="b" t="t" l="l"/>
            <a:pathLst>
              <a:path h="2295877" w="1150809">
                <a:moveTo>
                  <a:pt x="0" y="0"/>
                </a:moveTo>
                <a:lnTo>
                  <a:pt x="1150809" y="0"/>
                </a:lnTo>
                <a:lnTo>
                  <a:pt x="1150809" y="2295878"/>
                </a:lnTo>
                <a:lnTo>
                  <a:pt x="0" y="22958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285297" y="8479082"/>
            <a:ext cx="1093342" cy="1093342"/>
          </a:xfrm>
          <a:custGeom>
            <a:avLst/>
            <a:gdLst/>
            <a:ahLst/>
            <a:cxnLst/>
            <a:rect r="r" b="b" t="t" l="l"/>
            <a:pathLst>
              <a:path h="1093342" w="1093342">
                <a:moveTo>
                  <a:pt x="0" y="0"/>
                </a:moveTo>
                <a:lnTo>
                  <a:pt x="1093341" y="0"/>
                </a:lnTo>
                <a:lnTo>
                  <a:pt x="1093341" y="1093342"/>
                </a:lnTo>
                <a:lnTo>
                  <a:pt x="0" y="10933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16713569" y="4785310"/>
            <a:ext cx="2616002" cy="1255681"/>
          </a:xfrm>
          <a:custGeom>
            <a:avLst/>
            <a:gdLst/>
            <a:ahLst/>
            <a:cxnLst/>
            <a:rect r="r" b="b" t="t" l="l"/>
            <a:pathLst>
              <a:path h="1255681" w="2616002">
                <a:moveTo>
                  <a:pt x="0" y="0"/>
                </a:moveTo>
                <a:lnTo>
                  <a:pt x="2616002" y="0"/>
                </a:lnTo>
                <a:lnTo>
                  <a:pt x="2616002" y="1255681"/>
                </a:lnTo>
                <a:lnTo>
                  <a:pt x="0" y="12556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7301780" y="3559212"/>
            <a:ext cx="622193" cy="622193"/>
          </a:xfrm>
          <a:custGeom>
            <a:avLst/>
            <a:gdLst/>
            <a:ahLst/>
            <a:cxnLst/>
            <a:rect r="r" b="b" t="t" l="l"/>
            <a:pathLst>
              <a:path h="622193" w="622193">
                <a:moveTo>
                  <a:pt x="0" y="0"/>
                </a:moveTo>
                <a:lnTo>
                  <a:pt x="622193" y="0"/>
                </a:lnTo>
                <a:lnTo>
                  <a:pt x="622193" y="622193"/>
                </a:lnTo>
                <a:lnTo>
                  <a:pt x="0" y="6221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3474482" y="1028700"/>
            <a:ext cx="1764691" cy="1764691"/>
          </a:xfrm>
          <a:custGeom>
            <a:avLst/>
            <a:gdLst/>
            <a:ahLst/>
            <a:cxnLst/>
            <a:rect r="r" b="b" t="t" l="l"/>
            <a:pathLst>
              <a:path h="1764691" w="1764691">
                <a:moveTo>
                  <a:pt x="0" y="0"/>
                </a:moveTo>
                <a:lnTo>
                  <a:pt x="1764691" y="0"/>
                </a:lnTo>
                <a:lnTo>
                  <a:pt x="1764691" y="1764691"/>
                </a:lnTo>
                <a:lnTo>
                  <a:pt x="0" y="176469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2038955" y="1680812"/>
            <a:ext cx="2317872" cy="1112579"/>
          </a:xfrm>
          <a:custGeom>
            <a:avLst/>
            <a:gdLst/>
            <a:ahLst/>
            <a:cxnLst/>
            <a:rect r="r" b="b" t="t" l="l"/>
            <a:pathLst>
              <a:path h="1112579" w="2317872">
                <a:moveTo>
                  <a:pt x="0" y="0"/>
                </a:moveTo>
                <a:lnTo>
                  <a:pt x="2317872" y="0"/>
                </a:lnTo>
                <a:lnTo>
                  <a:pt x="2317872" y="1112579"/>
                </a:lnTo>
                <a:lnTo>
                  <a:pt x="0" y="1112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694866" y="2541856"/>
            <a:ext cx="1501111" cy="1501111"/>
          </a:xfrm>
          <a:custGeom>
            <a:avLst/>
            <a:gdLst/>
            <a:ahLst/>
            <a:cxnLst/>
            <a:rect r="r" b="b" t="t" l="l"/>
            <a:pathLst>
              <a:path h="1501111" w="1501111">
                <a:moveTo>
                  <a:pt x="0" y="0"/>
                </a:moveTo>
                <a:lnTo>
                  <a:pt x="1501111" y="0"/>
                </a:lnTo>
                <a:lnTo>
                  <a:pt x="1501111" y="1501111"/>
                </a:lnTo>
                <a:lnTo>
                  <a:pt x="0" y="150111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0" id="10"/>
          <p:cNvSpPr txBox="true"/>
          <p:nvPr/>
        </p:nvSpPr>
        <p:spPr>
          <a:xfrm rot="0">
            <a:off x="6682867" y="4621709"/>
            <a:ext cx="4922267" cy="1419282"/>
          </a:xfrm>
          <a:prstGeom prst="rect">
            <a:avLst/>
          </a:prstGeom>
        </p:spPr>
        <p:txBody>
          <a:bodyPr anchor="t" rtlCol="false" tIns="0" lIns="0" bIns="0" rIns="0">
            <a:spAutoFit/>
          </a:bodyPr>
          <a:lstStyle/>
          <a:p>
            <a:pPr algn="ctr" marL="0" indent="0" lvl="1">
              <a:lnSpc>
                <a:spcPts val="5771"/>
              </a:lnSpc>
              <a:spcBef>
                <a:spcPct val="0"/>
              </a:spcBef>
            </a:pPr>
            <a:r>
              <a:rPr lang="en-US" sz="4122">
                <a:solidFill>
                  <a:srgbClr val="FFFFFF"/>
                </a:solidFill>
                <a:latin typeface="Press Start 2P"/>
                <a:ea typeface="Press Start 2P"/>
                <a:cs typeface="Press Start 2P"/>
                <a:sym typeface="Press Start 2P"/>
              </a:rPr>
              <a:t>THANK YOU!</a:t>
            </a:r>
          </a:p>
        </p:txBody>
      </p:sp>
      <p:sp>
        <p:nvSpPr>
          <p:cNvPr name="Freeform 11" id="11"/>
          <p:cNvSpPr/>
          <p:nvPr/>
        </p:nvSpPr>
        <p:spPr>
          <a:xfrm flipH="false" flipV="false" rot="0">
            <a:off x="7301780" y="7218666"/>
            <a:ext cx="6609969" cy="4079268"/>
          </a:xfrm>
          <a:custGeom>
            <a:avLst/>
            <a:gdLst/>
            <a:ahLst/>
            <a:cxnLst/>
            <a:rect r="r" b="b" t="t" l="l"/>
            <a:pathLst>
              <a:path h="4079268" w="6609969">
                <a:moveTo>
                  <a:pt x="0" y="0"/>
                </a:moveTo>
                <a:lnTo>
                  <a:pt x="6609969" y="0"/>
                </a:lnTo>
                <a:lnTo>
                  <a:pt x="6609969" y="4079268"/>
                </a:lnTo>
                <a:lnTo>
                  <a:pt x="0" y="4079268"/>
                </a:lnTo>
                <a:lnTo>
                  <a:pt x="0" y="0"/>
                </a:lnTo>
                <a:close/>
              </a:path>
            </a:pathLst>
          </a:custGeom>
          <a:blipFill>
            <a:blip r:embed="rId16"/>
            <a:stretch>
              <a:fillRect l="-263800" t="-83755" r="0" b="-701039"/>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DAHITRAI8Hc</dc:identifier>
  <dcterms:modified xsi:type="dcterms:W3CDTF">2011-08-01T06:04:30Z</dcterms:modified>
  <cp:revision>1</cp:revision>
  <dc:title>ANURA FINAL PRESENTATION</dc:title>
</cp:coreProperties>
</file>